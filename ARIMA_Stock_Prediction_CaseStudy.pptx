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73152"/>
            <a:ext cx="109728" cy="5070348"/>
          </a:xfrm>
          <a:prstGeom prst="rect">
            <a:avLst/>
          </a:prstGeom>
          <a:solidFill>
            <a:srgbClr val="0D9488"/>
          </a:solidFill>
          <a:ln w="12700">
            <a:solidFill>
              <a:srgbClr val="0D9488"/>
            </a:solidFill>
            <a:prstDash val="solid"/>
          </a:ln>
        </p:spPr>
      </p:sp>
      <p:sp>
        <p:nvSpPr>
          <p:cNvPr id="4" name="Shape 2"/>
          <p:cNvSpPr/>
          <p:nvPr/>
        </p:nvSpPr>
        <p:spPr>
          <a:xfrm>
            <a:off x="6583680" y="457200"/>
            <a:ext cx="2377440" cy="2377440"/>
          </a:xfrm>
          <a:prstGeom prst="ellipse">
            <a:avLst/>
          </a:prstGeom>
          <a:solidFill>
            <a:srgbClr val="2A3580">
              <a:alpha val="70000"/>
            </a:srgbClr>
          </a:solidFill>
          <a:ln w="25400">
            <a:solidFill>
              <a:srgbClr val="0D9488"/>
            </a:solidFill>
            <a:prstDash val="solid"/>
          </a:ln>
        </p:spPr>
      </p:sp>
      <p:sp>
        <p:nvSpPr>
          <p:cNvPr id="5" name="Shape 3"/>
          <p:cNvSpPr/>
          <p:nvPr/>
        </p:nvSpPr>
        <p:spPr>
          <a:xfrm>
            <a:off x="6949440" y="822960"/>
            <a:ext cx="1645920" cy="1645920"/>
          </a:xfrm>
          <a:prstGeom prst="ellipse">
            <a:avLst/>
          </a:prstGeom>
          <a:solidFill>
            <a:srgbClr val="0D9488">
              <a:alpha val="50000"/>
            </a:srgbClr>
          </a:solidFill>
          <a:ln w="12700">
            <a:solidFill>
              <a:srgbClr val="5EEAD4"/>
            </a:solidFill>
            <a:prstDash val="solid"/>
          </a:ln>
        </p:spPr>
      </p:sp>
      <p:sp>
        <p:nvSpPr>
          <p:cNvPr id="6" name="Shape 4"/>
          <p:cNvSpPr/>
          <p:nvPr/>
        </p:nvSpPr>
        <p:spPr>
          <a:xfrm>
            <a:off x="7178040" y="1417320"/>
            <a:ext cx="164592" cy="457200"/>
          </a:xfrm>
          <a:prstGeom prst="rect">
            <a:avLst/>
          </a:prstGeom>
          <a:solidFill>
            <a:srgbClr val="FFFFFF"/>
          </a:solidFill>
          <a:ln w="12700">
            <a:solidFill>
              <a:srgbClr val="FFFFFF"/>
            </a:solidFill>
            <a:prstDash val="solid"/>
          </a:ln>
        </p:spPr>
      </p:sp>
      <p:sp>
        <p:nvSpPr>
          <p:cNvPr id="7" name="Shape 5"/>
          <p:cNvSpPr/>
          <p:nvPr/>
        </p:nvSpPr>
        <p:spPr>
          <a:xfrm>
            <a:off x="7434072" y="1143000"/>
            <a:ext cx="164592" cy="731520"/>
          </a:xfrm>
          <a:prstGeom prst="rect">
            <a:avLst/>
          </a:prstGeom>
          <a:solidFill>
            <a:srgbClr val="FFFFFF"/>
          </a:solidFill>
          <a:ln w="12700">
            <a:solidFill>
              <a:srgbClr val="FFFFFF"/>
            </a:solidFill>
            <a:prstDash val="solid"/>
          </a:ln>
        </p:spPr>
      </p:sp>
      <p:sp>
        <p:nvSpPr>
          <p:cNvPr id="8" name="Shape 6"/>
          <p:cNvSpPr/>
          <p:nvPr/>
        </p:nvSpPr>
        <p:spPr>
          <a:xfrm>
            <a:off x="7690104" y="1325880"/>
            <a:ext cx="164592" cy="548640"/>
          </a:xfrm>
          <a:prstGeom prst="rect">
            <a:avLst/>
          </a:prstGeom>
          <a:solidFill>
            <a:srgbClr val="FFFFFF"/>
          </a:solidFill>
          <a:ln w="12700">
            <a:solidFill>
              <a:srgbClr val="FFFFFF"/>
            </a:solidFill>
            <a:prstDash val="solid"/>
          </a:ln>
        </p:spPr>
      </p:sp>
      <p:sp>
        <p:nvSpPr>
          <p:cNvPr id="9" name="Shape 7"/>
          <p:cNvSpPr/>
          <p:nvPr/>
        </p:nvSpPr>
        <p:spPr>
          <a:xfrm>
            <a:off x="7946136" y="960120"/>
            <a:ext cx="164592" cy="914400"/>
          </a:xfrm>
          <a:prstGeom prst="rect">
            <a:avLst/>
          </a:prstGeom>
          <a:solidFill>
            <a:srgbClr val="FFFFFF"/>
          </a:solidFill>
          <a:ln w="12700">
            <a:solidFill>
              <a:srgbClr val="FFFFFF"/>
            </a:solidFill>
            <a:prstDash val="solid"/>
          </a:ln>
        </p:spPr>
      </p:sp>
      <p:sp>
        <p:nvSpPr>
          <p:cNvPr id="10" name="Text 8"/>
          <p:cNvSpPr/>
          <p:nvPr/>
        </p:nvSpPr>
        <p:spPr>
          <a:xfrm>
            <a:off x="274320" y="457200"/>
            <a:ext cx="5943600" cy="365760"/>
          </a:xfrm>
          <a:prstGeom prst="rect">
            <a:avLst/>
          </a:prstGeom>
          <a:noFill/>
          <a:ln/>
        </p:spPr>
        <p:txBody>
          <a:bodyPr wrap="square" lIns="0" tIns="0" rIns="0" bIns="0" rtlCol="0" anchor="ctr"/>
          <a:lstStyle/>
          <a:p>
            <a:pPr indent="0" marL="0">
              <a:buNone/>
            </a:pPr>
            <a:r>
              <a:rPr lang="en-US" sz="1100" b="1" spc="600" kern="0" dirty="0">
                <a:solidFill>
                  <a:srgbClr val="5EEAD4"/>
                </a:solidFill>
                <a:latin typeface="Calibri" pitchFamily="34" charset="0"/>
                <a:ea typeface="Calibri" pitchFamily="34" charset="-122"/>
                <a:cs typeface="Calibri" pitchFamily="34" charset="-120"/>
              </a:rPr>
              <a:t>CASE STUDY</a:t>
            </a:r>
            <a:endParaRPr lang="en-US" sz="1100" dirty="0"/>
          </a:p>
        </p:txBody>
      </p:sp>
      <p:sp>
        <p:nvSpPr>
          <p:cNvPr id="11" name="Text 9"/>
          <p:cNvSpPr/>
          <p:nvPr/>
        </p:nvSpPr>
        <p:spPr>
          <a:xfrm>
            <a:off x="274320" y="914400"/>
            <a:ext cx="640080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Stock Price Prediction</a:t>
            </a:r>
            <a:endParaRPr lang="en-US" sz="3800" dirty="0"/>
          </a:p>
        </p:txBody>
      </p:sp>
      <p:sp>
        <p:nvSpPr>
          <p:cNvPr id="12" name="Text 10"/>
          <p:cNvSpPr/>
          <p:nvPr/>
        </p:nvSpPr>
        <p:spPr>
          <a:xfrm>
            <a:off x="274320" y="1600200"/>
            <a:ext cx="6400800" cy="594360"/>
          </a:xfrm>
          <a:prstGeom prst="rect">
            <a:avLst/>
          </a:prstGeom>
          <a:noFill/>
          <a:ln/>
        </p:spPr>
        <p:txBody>
          <a:bodyPr wrap="square" lIns="0" tIns="0" rIns="0" bIns="0" rtlCol="0" anchor="ctr"/>
          <a:lstStyle/>
          <a:p>
            <a:pPr indent="0" marL="0">
              <a:buNone/>
            </a:pPr>
            <a:r>
              <a:rPr lang="en-US" sz="3200" dirty="0">
                <a:solidFill>
                  <a:srgbClr val="CADCFC"/>
                </a:solidFill>
                <a:latin typeface="Calibri" pitchFamily="34" charset="0"/>
                <a:ea typeface="Calibri" pitchFamily="34" charset="-122"/>
                <a:cs typeface="Calibri" pitchFamily="34" charset="-120"/>
              </a:rPr>
              <a:t>Using ARIMA Model</a:t>
            </a:r>
            <a:endParaRPr lang="en-US" sz="3200" dirty="0"/>
          </a:p>
        </p:txBody>
      </p:sp>
      <p:sp>
        <p:nvSpPr>
          <p:cNvPr id="13" name="Shape 11"/>
          <p:cNvSpPr/>
          <p:nvPr/>
        </p:nvSpPr>
        <p:spPr>
          <a:xfrm>
            <a:off x="274320" y="2331720"/>
            <a:ext cx="1645920" cy="36576"/>
          </a:xfrm>
          <a:prstGeom prst="rect">
            <a:avLst/>
          </a:prstGeom>
          <a:solidFill>
            <a:srgbClr val="0D9488"/>
          </a:solidFill>
          <a:ln w="12700">
            <a:solidFill>
              <a:srgbClr val="0D9488"/>
            </a:solidFill>
            <a:prstDash val="solid"/>
          </a:ln>
        </p:spPr>
      </p:sp>
      <p:sp>
        <p:nvSpPr>
          <p:cNvPr id="14" name="Text 12"/>
          <p:cNvSpPr/>
          <p:nvPr/>
        </p:nvSpPr>
        <p:spPr>
          <a:xfrm>
            <a:off x="274320" y="2468880"/>
            <a:ext cx="6858000" cy="7315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 comprehensive academic case study on time series forecasting</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for financial markets using statistical modelling techniques</a:t>
            </a:r>
            <a:endParaRPr lang="en-US" sz="1300" dirty="0"/>
          </a:p>
        </p:txBody>
      </p:sp>
      <p:sp>
        <p:nvSpPr>
          <p:cNvPr id="15" name="Shape 13"/>
          <p:cNvSpPr/>
          <p:nvPr/>
        </p:nvSpPr>
        <p:spPr>
          <a:xfrm>
            <a:off x="274320" y="3429000"/>
            <a:ext cx="2011680" cy="310896"/>
          </a:xfrm>
          <a:prstGeom prst="roundRect">
            <a:avLst>
              <a:gd name="adj" fmla="val 14706"/>
            </a:avLst>
          </a:prstGeom>
          <a:solidFill>
            <a:srgbClr val="2A3580"/>
          </a:solidFill>
          <a:ln w="12700">
            <a:solidFill>
              <a:srgbClr val="0D9488"/>
            </a:solidFill>
            <a:prstDash val="solid"/>
          </a:ln>
        </p:spPr>
      </p:sp>
      <p:sp>
        <p:nvSpPr>
          <p:cNvPr id="16" name="Text 14"/>
          <p:cNvSpPr/>
          <p:nvPr/>
        </p:nvSpPr>
        <p:spPr>
          <a:xfrm>
            <a:off x="274320" y="3429000"/>
            <a:ext cx="2011680" cy="310896"/>
          </a:xfrm>
          <a:prstGeom prst="rect">
            <a:avLst/>
          </a:prstGeom>
          <a:noFill/>
          <a:ln/>
        </p:spPr>
        <p:txBody>
          <a:bodyPr wrap="square" rtlCol="0" anchor="ctr"/>
          <a:lstStyle/>
          <a:p>
            <a:pPr algn="ctr" indent="0" marL="0">
              <a:buNone/>
            </a:pPr>
            <a:r>
              <a:rPr lang="en-US" sz="900" dirty="0">
                <a:solidFill>
                  <a:srgbClr val="5EEAD4"/>
                </a:solidFill>
                <a:latin typeface="Calibri" pitchFamily="34" charset="0"/>
                <a:ea typeface="Calibri" pitchFamily="34" charset="-122"/>
                <a:cs typeface="Calibri" pitchFamily="34" charset="-120"/>
              </a:rPr>
              <a:t>B.Sc. Data Science</a:t>
            </a:r>
            <a:endParaRPr lang="en-US" sz="900" dirty="0"/>
          </a:p>
        </p:txBody>
      </p:sp>
      <p:sp>
        <p:nvSpPr>
          <p:cNvPr id="17" name="Shape 15"/>
          <p:cNvSpPr/>
          <p:nvPr/>
        </p:nvSpPr>
        <p:spPr>
          <a:xfrm>
            <a:off x="2487168" y="3429000"/>
            <a:ext cx="2011680" cy="310896"/>
          </a:xfrm>
          <a:prstGeom prst="roundRect">
            <a:avLst>
              <a:gd name="adj" fmla="val 14706"/>
            </a:avLst>
          </a:prstGeom>
          <a:solidFill>
            <a:srgbClr val="2A3580"/>
          </a:solidFill>
          <a:ln w="12700">
            <a:solidFill>
              <a:srgbClr val="0D9488"/>
            </a:solidFill>
            <a:prstDash val="solid"/>
          </a:ln>
        </p:spPr>
      </p:sp>
      <p:sp>
        <p:nvSpPr>
          <p:cNvPr id="18" name="Text 16"/>
          <p:cNvSpPr/>
          <p:nvPr/>
        </p:nvSpPr>
        <p:spPr>
          <a:xfrm>
            <a:off x="2487168" y="3429000"/>
            <a:ext cx="2011680" cy="310896"/>
          </a:xfrm>
          <a:prstGeom prst="rect">
            <a:avLst/>
          </a:prstGeom>
          <a:noFill/>
          <a:ln/>
        </p:spPr>
        <p:txBody>
          <a:bodyPr wrap="square" rtlCol="0" anchor="ctr"/>
          <a:lstStyle/>
          <a:p>
            <a:pPr algn="ctr" indent="0" marL="0">
              <a:buNone/>
            </a:pPr>
            <a:r>
              <a:rPr lang="en-US" sz="900" dirty="0">
                <a:solidFill>
                  <a:srgbClr val="5EEAD4"/>
                </a:solidFill>
                <a:latin typeface="Calibri" pitchFamily="34" charset="0"/>
                <a:ea typeface="Calibri" pitchFamily="34" charset="-122"/>
                <a:cs typeface="Calibri" pitchFamily="34" charset="-120"/>
              </a:rPr>
              <a:t>Time Series Analysis</a:t>
            </a:r>
            <a:endParaRPr lang="en-US" sz="900" dirty="0"/>
          </a:p>
        </p:txBody>
      </p:sp>
      <p:sp>
        <p:nvSpPr>
          <p:cNvPr id="19" name="Shape 17"/>
          <p:cNvSpPr/>
          <p:nvPr/>
        </p:nvSpPr>
        <p:spPr>
          <a:xfrm>
            <a:off x="4700016" y="3429000"/>
            <a:ext cx="2011680" cy="310896"/>
          </a:xfrm>
          <a:prstGeom prst="roundRect">
            <a:avLst>
              <a:gd name="adj" fmla="val 14706"/>
            </a:avLst>
          </a:prstGeom>
          <a:solidFill>
            <a:srgbClr val="2A3580"/>
          </a:solidFill>
          <a:ln w="12700">
            <a:solidFill>
              <a:srgbClr val="0D9488"/>
            </a:solidFill>
            <a:prstDash val="solid"/>
          </a:ln>
        </p:spPr>
      </p:sp>
      <p:sp>
        <p:nvSpPr>
          <p:cNvPr id="20" name="Text 18"/>
          <p:cNvSpPr/>
          <p:nvPr/>
        </p:nvSpPr>
        <p:spPr>
          <a:xfrm>
            <a:off x="4700016" y="3429000"/>
            <a:ext cx="2011680" cy="310896"/>
          </a:xfrm>
          <a:prstGeom prst="rect">
            <a:avLst/>
          </a:prstGeom>
          <a:noFill/>
          <a:ln/>
        </p:spPr>
        <p:txBody>
          <a:bodyPr wrap="square" rtlCol="0" anchor="ctr"/>
          <a:lstStyle/>
          <a:p>
            <a:pPr algn="ctr" indent="0" marL="0">
              <a:buNone/>
            </a:pPr>
            <a:r>
              <a:rPr lang="en-US" sz="900" dirty="0">
                <a:solidFill>
                  <a:srgbClr val="5EEAD4"/>
                </a:solidFill>
                <a:latin typeface="Calibri" pitchFamily="34" charset="0"/>
                <a:ea typeface="Calibri" pitchFamily="34" charset="-122"/>
                <a:cs typeface="Calibri" pitchFamily="34" charset="-120"/>
              </a:rPr>
              <a:t>NSE Market Data</a:t>
            </a:r>
            <a:endParaRPr lang="en-US" sz="900" dirty="0"/>
          </a:p>
        </p:txBody>
      </p:sp>
      <p:sp>
        <p:nvSpPr>
          <p:cNvPr id="21" name="Shape 19"/>
          <p:cNvSpPr/>
          <p:nvPr/>
        </p:nvSpPr>
        <p:spPr>
          <a:xfrm>
            <a:off x="6912864" y="3429000"/>
            <a:ext cx="2011680" cy="310896"/>
          </a:xfrm>
          <a:prstGeom prst="roundRect">
            <a:avLst>
              <a:gd name="adj" fmla="val 14706"/>
            </a:avLst>
          </a:prstGeom>
          <a:solidFill>
            <a:srgbClr val="2A3580"/>
          </a:solidFill>
          <a:ln w="12700">
            <a:solidFill>
              <a:srgbClr val="0D9488"/>
            </a:solidFill>
            <a:prstDash val="solid"/>
          </a:ln>
        </p:spPr>
      </p:sp>
      <p:sp>
        <p:nvSpPr>
          <p:cNvPr id="22" name="Text 20"/>
          <p:cNvSpPr/>
          <p:nvPr/>
        </p:nvSpPr>
        <p:spPr>
          <a:xfrm>
            <a:off x="6912864" y="3429000"/>
            <a:ext cx="2011680" cy="310896"/>
          </a:xfrm>
          <a:prstGeom prst="rect">
            <a:avLst/>
          </a:prstGeom>
          <a:noFill/>
          <a:ln/>
        </p:spPr>
        <p:txBody>
          <a:bodyPr wrap="square" rtlCol="0" anchor="ctr"/>
          <a:lstStyle/>
          <a:p>
            <a:pPr algn="ctr" indent="0" marL="0">
              <a:buNone/>
            </a:pPr>
            <a:r>
              <a:rPr lang="en-US" sz="900" dirty="0">
                <a:solidFill>
                  <a:srgbClr val="5EEAD4"/>
                </a:solidFill>
                <a:latin typeface="Calibri" pitchFamily="34" charset="0"/>
                <a:ea typeface="Calibri" pitchFamily="34" charset="-122"/>
                <a:cs typeface="Calibri" pitchFamily="34" charset="-120"/>
              </a:rPr>
              <a:t>Python / statsmodels</a:t>
            </a:r>
            <a:endParaRPr lang="en-US" sz="900" dirty="0"/>
          </a:p>
        </p:txBody>
      </p:sp>
      <p:sp>
        <p:nvSpPr>
          <p:cNvPr id="23" name="Text 21"/>
          <p:cNvSpPr/>
          <p:nvPr/>
        </p:nvSpPr>
        <p:spPr>
          <a:xfrm>
            <a:off x="274320" y="4663440"/>
            <a:ext cx="859536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International Journal of Marketing &amp; Human Resource Research | Vol. 2, No. 2, April 2021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01</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Introduction</a:t>
            </a:r>
            <a:endParaRPr lang="en-US" sz="2600" dirty="0"/>
          </a:p>
        </p:txBody>
      </p:sp>
      <p:sp>
        <p:nvSpPr>
          <p:cNvPr id="6" name="Shape 4"/>
          <p:cNvSpPr/>
          <p:nvPr/>
        </p:nvSpPr>
        <p:spPr>
          <a:xfrm>
            <a:off x="274320" y="1097280"/>
            <a:ext cx="54864" cy="1005840"/>
          </a:xfrm>
          <a:prstGeom prst="rect">
            <a:avLst/>
          </a:prstGeom>
          <a:solidFill>
            <a:srgbClr val="0D9488"/>
          </a:solidFill>
          <a:ln w="12700">
            <a:solidFill>
              <a:srgbClr val="0D9488"/>
            </a:solidFill>
            <a:prstDash val="solid"/>
          </a:ln>
        </p:spPr>
      </p:sp>
      <p:sp>
        <p:nvSpPr>
          <p:cNvPr id="7" name="Shape 5"/>
          <p:cNvSpPr/>
          <p:nvPr/>
        </p:nvSpPr>
        <p:spPr>
          <a:xfrm>
            <a:off x="457200" y="1097280"/>
            <a:ext cx="8412480" cy="1005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8" name="Text 6"/>
          <p:cNvSpPr/>
          <p:nvPr/>
        </p:nvSpPr>
        <p:spPr>
          <a:xfrm>
            <a:off x="640080" y="1170432"/>
            <a:ext cx="80467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Stock Market Prediction</a:t>
            </a:r>
            <a:endParaRPr lang="en-US" sz="1300" dirty="0"/>
          </a:p>
        </p:txBody>
      </p:sp>
      <p:sp>
        <p:nvSpPr>
          <p:cNvPr id="9" name="Text 7"/>
          <p:cNvSpPr/>
          <p:nvPr/>
        </p:nvSpPr>
        <p:spPr>
          <a:xfrm>
            <a:off x="640080" y="1444752"/>
            <a:ext cx="804672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Stock markets are complex, dynamic systems influenced by countless variables. Accurately forecasting stock prices remains one of the most challenging yet rewarding tasks in quantitative finance, attracting researchers and practitioners worldwide.</a:t>
            </a:r>
            <a:endParaRPr lang="en-US" sz="1100" dirty="0"/>
          </a:p>
        </p:txBody>
      </p:sp>
      <p:sp>
        <p:nvSpPr>
          <p:cNvPr id="10" name="Shape 8"/>
          <p:cNvSpPr/>
          <p:nvPr/>
        </p:nvSpPr>
        <p:spPr>
          <a:xfrm>
            <a:off x="274320" y="2331720"/>
            <a:ext cx="54864" cy="1005840"/>
          </a:xfrm>
          <a:prstGeom prst="rect">
            <a:avLst/>
          </a:prstGeom>
          <a:solidFill>
            <a:srgbClr val="0D9488"/>
          </a:solidFill>
          <a:ln w="12700">
            <a:solidFill>
              <a:srgbClr val="0D9488"/>
            </a:solidFill>
            <a:prstDash val="solid"/>
          </a:ln>
        </p:spPr>
      </p:sp>
      <p:sp>
        <p:nvSpPr>
          <p:cNvPr id="11" name="Shape 9"/>
          <p:cNvSpPr/>
          <p:nvPr/>
        </p:nvSpPr>
        <p:spPr>
          <a:xfrm>
            <a:off x="457200" y="2331720"/>
            <a:ext cx="8412480" cy="1005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12" name="Text 10"/>
          <p:cNvSpPr/>
          <p:nvPr/>
        </p:nvSpPr>
        <p:spPr>
          <a:xfrm>
            <a:off x="640080" y="2404872"/>
            <a:ext cx="80467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Importance of Forecasting</a:t>
            </a:r>
            <a:endParaRPr lang="en-US" sz="1300" dirty="0"/>
          </a:p>
        </p:txBody>
      </p:sp>
      <p:sp>
        <p:nvSpPr>
          <p:cNvPr id="13" name="Text 11"/>
          <p:cNvSpPr/>
          <p:nvPr/>
        </p:nvSpPr>
        <p:spPr>
          <a:xfrm>
            <a:off x="640080" y="2679192"/>
            <a:ext cx="804672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Reliable price forecasts empower investors to make data-driven decisions, optimise portfolio allocation, minimise risk exposure, and identify profitable entry and exit points. Institutions rely on systematic prediction tools to gain competitive advantage.</a:t>
            </a:r>
            <a:endParaRPr lang="en-US" sz="1100" dirty="0"/>
          </a:p>
        </p:txBody>
      </p:sp>
      <p:sp>
        <p:nvSpPr>
          <p:cNvPr id="14" name="Shape 12"/>
          <p:cNvSpPr/>
          <p:nvPr/>
        </p:nvSpPr>
        <p:spPr>
          <a:xfrm>
            <a:off x="274320" y="3566160"/>
            <a:ext cx="54864" cy="1005840"/>
          </a:xfrm>
          <a:prstGeom prst="rect">
            <a:avLst/>
          </a:prstGeom>
          <a:solidFill>
            <a:srgbClr val="0D9488"/>
          </a:solidFill>
          <a:ln w="12700">
            <a:solidFill>
              <a:srgbClr val="0D9488"/>
            </a:solidFill>
            <a:prstDash val="solid"/>
          </a:ln>
        </p:spPr>
      </p:sp>
      <p:sp>
        <p:nvSpPr>
          <p:cNvPr id="15" name="Shape 13"/>
          <p:cNvSpPr/>
          <p:nvPr/>
        </p:nvSpPr>
        <p:spPr>
          <a:xfrm>
            <a:off x="457200" y="3566160"/>
            <a:ext cx="8412480" cy="1005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6000"/>
              </a:srgbClr>
            </a:outerShdw>
          </a:effectLst>
        </p:spPr>
      </p:sp>
      <p:sp>
        <p:nvSpPr>
          <p:cNvPr id="16" name="Text 14"/>
          <p:cNvSpPr/>
          <p:nvPr/>
        </p:nvSpPr>
        <p:spPr>
          <a:xfrm>
            <a:off x="640080" y="3639312"/>
            <a:ext cx="80467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Role of Time Series Analysis</a:t>
            </a:r>
            <a:endParaRPr lang="en-US" sz="1300" dirty="0"/>
          </a:p>
        </p:txBody>
      </p:sp>
      <p:sp>
        <p:nvSpPr>
          <p:cNvPr id="17" name="Text 15"/>
          <p:cNvSpPr/>
          <p:nvPr/>
        </p:nvSpPr>
        <p:spPr>
          <a:xfrm>
            <a:off x="640080" y="3913632"/>
            <a:ext cx="804672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Financial prices are inherently sequential — past values carry statistical information about future behaviour. Time series methods such as ARIMA exploit autocorrelation and trend structures in historical data to generate short-horizon forecasts without requiring external variables.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02</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6" name="Shape 4"/>
          <p:cNvSpPr/>
          <p:nvPr/>
        </p:nvSpPr>
        <p:spPr>
          <a:xfrm>
            <a:off x="274320" y="1078992"/>
            <a:ext cx="4114800" cy="320040"/>
          </a:xfrm>
          <a:prstGeom prst="rect">
            <a:avLst/>
          </a:prstGeom>
          <a:solidFill>
            <a:srgbClr val="1E2761"/>
          </a:solidFill>
          <a:ln w="12700">
            <a:solidFill>
              <a:srgbClr val="1E2761"/>
            </a:solidFill>
            <a:prstDash val="solid"/>
          </a:ln>
        </p:spPr>
      </p:sp>
      <p:sp>
        <p:nvSpPr>
          <p:cNvPr id="7" name="Text 5"/>
          <p:cNvSpPr/>
          <p:nvPr/>
        </p:nvSpPr>
        <p:spPr>
          <a:xfrm>
            <a:off x="274320" y="1078992"/>
            <a:ext cx="4114800" cy="320040"/>
          </a:xfrm>
          <a:prstGeom prst="rect">
            <a:avLst/>
          </a:prstGeom>
          <a:noFill/>
          <a:ln/>
        </p:spPr>
        <p:txBody>
          <a:bodyPr wrap="square" rtlCol="0" anchor="ctr"/>
          <a:lstStyle/>
          <a:p>
            <a:pPr algn="ctr" indent="0" marL="0">
              <a:buNone/>
            </a:pPr>
            <a:r>
              <a:rPr lang="en-US" sz="1200" b="1" dirty="0">
                <a:solidFill>
                  <a:srgbClr val="5EEAD4"/>
                </a:solidFill>
                <a:latin typeface="Calibri" pitchFamily="34" charset="0"/>
                <a:ea typeface="Calibri" pitchFamily="34" charset="-122"/>
                <a:cs typeface="Calibri" pitchFamily="34" charset="-120"/>
              </a:rPr>
              <a:t>Challenges in Prediction</a:t>
            </a:r>
            <a:endParaRPr lang="en-US" sz="1200" dirty="0"/>
          </a:p>
        </p:txBody>
      </p:sp>
      <p:sp>
        <p:nvSpPr>
          <p:cNvPr id="8" name="Shape 6"/>
          <p:cNvSpPr/>
          <p:nvPr/>
        </p:nvSpPr>
        <p:spPr>
          <a:xfrm>
            <a:off x="274320" y="1481328"/>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9" name="Shape 7"/>
          <p:cNvSpPr/>
          <p:nvPr/>
        </p:nvSpPr>
        <p:spPr>
          <a:xfrm>
            <a:off x="347472" y="1664208"/>
            <a:ext cx="292608" cy="292608"/>
          </a:xfrm>
          <a:prstGeom prst="ellipse">
            <a:avLst/>
          </a:prstGeom>
          <a:solidFill>
            <a:srgbClr val="0D9488"/>
          </a:solidFill>
          <a:ln w="12700">
            <a:solidFill>
              <a:srgbClr val="0D9488"/>
            </a:solidFill>
            <a:prstDash val="solid"/>
          </a:ln>
        </p:spPr>
      </p:sp>
      <p:sp>
        <p:nvSpPr>
          <p:cNvPr id="10" name="Text 8"/>
          <p:cNvSpPr/>
          <p:nvPr/>
        </p:nvSpPr>
        <p:spPr>
          <a:xfrm>
            <a:off x="347472" y="166420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713232" y="1554480"/>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Non-stationary data: Stock prices exhibit trends, seasonality, and structural breaks that violate standard model assumptions.</a:t>
            </a:r>
            <a:endParaRPr lang="en-US" sz="1000" dirty="0"/>
          </a:p>
        </p:txBody>
      </p:sp>
      <p:sp>
        <p:nvSpPr>
          <p:cNvPr id="12" name="Shape 10"/>
          <p:cNvSpPr/>
          <p:nvPr/>
        </p:nvSpPr>
        <p:spPr>
          <a:xfrm>
            <a:off x="274320" y="2322576"/>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3" name="Shape 11"/>
          <p:cNvSpPr/>
          <p:nvPr/>
        </p:nvSpPr>
        <p:spPr>
          <a:xfrm>
            <a:off x="347472" y="2505456"/>
            <a:ext cx="292608" cy="292608"/>
          </a:xfrm>
          <a:prstGeom prst="ellipse">
            <a:avLst/>
          </a:prstGeom>
          <a:solidFill>
            <a:srgbClr val="0D9488"/>
          </a:solidFill>
          <a:ln w="12700">
            <a:solidFill>
              <a:srgbClr val="0D9488"/>
            </a:solidFill>
            <a:prstDash val="solid"/>
          </a:ln>
        </p:spPr>
      </p:sp>
      <p:sp>
        <p:nvSpPr>
          <p:cNvPr id="14" name="Text 12"/>
          <p:cNvSpPr/>
          <p:nvPr/>
        </p:nvSpPr>
        <p:spPr>
          <a:xfrm>
            <a:off x="347472" y="2505456"/>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713232" y="2395728"/>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High volatility: Sudden price spikes caused by news, earnings, or macro events are difficult to anticipate.</a:t>
            </a:r>
            <a:endParaRPr lang="en-US" sz="1000" dirty="0"/>
          </a:p>
        </p:txBody>
      </p:sp>
      <p:sp>
        <p:nvSpPr>
          <p:cNvPr id="16" name="Shape 14"/>
          <p:cNvSpPr/>
          <p:nvPr/>
        </p:nvSpPr>
        <p:spPr>
          <a:xfrm>
            <a:off x="274320" y="3163824"/>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17" name="Shape 15"/>
          <p:cNvSpPr/>
          <p:nvPr/>
        </p:nvSpPr>
        <p:spPr>
          <a:xfrm>
            <a:off x="347472" y="3346704"/>
            <a:ext cx="292608" cy="292608"/>
          </a:xfrm>
          <a:prstGeom prst="ellipse">
            <a:avLst/>
          </a:prstGeom>
          <a:solidFill>
            <a:srgbClr val="0D9488"/>
          </a:solidFill>
          <a:ln w="12700">
            <a:solidFill>
              <a:srgbClr val="0D9488"/>
            </a:solidFill>
            <a:prstDash val="solid"/>
          </a:ln>
        </p:spPr>
      </p:sp>
      <p:sp>
        <p:nvSpPr>
          <p:cNvPr id="18" name="Text 16"/>
          <p:cNvSpPr/>
          <p:nvPr/>
        </p:nvSpPr>
        <p:spPr>
          <a:xfrm>
            <a:off x="347472" y="334670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713232" y="3236976"/>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Noise vs. signal: Separating genuine patterns from random fluctuations in price data is fundamentally hard.</a:t>
            </a:r>
            <a:endParaRPr lang="en-US" sz="1000" dirty="0"/>
          </a:p>
        </p:txBody>
      </p:sp>
      <p:sp>
        <p:nvSpPr>
          <p:cNvPr id="20" name="Shape 18"/>
          <p:cNvSpPr/>
          <p:nvPr/>
        </p:nvSpPr>
        <p:spPr>
          <a:xfrm>
            <a:off x="274320" y="4005072"/>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1" name="Shape 19"/>
          <p:cNvSpPr/>
          <p:nvPr/>
        </p:nvSpPr>
        <p:spPr>
          <a:xfrm>
            <a:off x="347472" y="4187952"/>
            <a:ext cx="292608" cy="292608"/>
          </a:xfrm>
          <a:prstGeom prst="ellipse">
            <a:avLst/>
          </a:prstGeom>
          <a:solidFill>
            <a:srgbClr val="0D9488"/>
          </a:solidFill>
          <a:ln w="12700">
            <a:solidFill>
              <a:srgbClr val="0D9488"/>
            </a:solidFill>
            <a:prstDash val="solid"/>
          </a:ln>
        </p:spPr>
      </p:sp>
      <p:sp>
        <p:nvSpPr>
          <p:cNvPr id="22" name="Text 20"/>
          <p:cNvSpPr/>
          <p:nvPr/>
        </p:nvSpPr>
        <p:spPr>
          <a:xfrm>
            <a:off x="347472" y="418795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1"/>
          <p:cNvSpPr/>
          <p:nvPr/>
        </p:nvSpPr>
        <p:spPr>
          <a:xfrm>
            <a:off x="713232" y="4078224"/>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Limited historical data: Monthly observations over 3 years provide only ~36 data points, restricting model complexity.</a:t>
            </a:r>
            <a:endParaRPr lang="en-US" sz="1000" dirty="0"/>
          </a:p>
        </p:txBody>
      </p:sp>
      <p:sp>
        <p:nvSpPr>
          <p:cNvPr id="24" name="Shape 22"/>
          <p:cNvSpPr/>
          <p:nvPr/>
        </p:nvSpPr>
        <p:spPr>
          <a:xfrm>
            <a:off x="4754880" y="1078992"/>
            <a:ext cx="4114800" cy="320040"/>
          </a:xfrm>
          <a:prstGeom prst="rect">
            <a:avLst/>
          </a:prstGeom>
          <a:solidFill>
            <a:srgbClr val="0D9488"/>
          </a:solidFill>
          <a:ln w="12700">
            <a:solidFill>
              <a:srgbClr val="0D9488"/>
            </a:solidFill>
            <a:prstDash val="solid"/>
          </a:ln>
        </p:spPr>
      </p:sp>
      <p:sp>
        <p:nvSpPr>
          <p:cNvPr id="25" name="Text 23"/>
          <p:cNvSpPr/>
          <p:nvPr/>
        </p:nvSpPr>
        <p:spPr>
          <a:xfrm>
            <a:off x="4754880" y="1078992"/>
            <a:ext cx="4114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Need for Forecasting Techniques</a:t>
            </a:r>
            <a:endParaRPr lang="en-US" sz="1200" dirty="0"/>
          </a:p>
        </p:txBody>
      </p:sp>
      <p:sp>
        <p:nvSpPr>
          <p:cNvPr id="26" name="Shape 24"/>
          <p:cNvSpPr/>
          <p:nvPr/>
        </p:nvSpPr>
        <p:spPr>
          <a:xfrm>
            <a:off x="4754880" y="1481328"/>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27" name="Shape 25"/>
          <p:cNvSpPr/>
          <p:nvPr/>
        </p:nvSpPr>
        <p:spPr>
          <a:xfrm>
            <a:off x="4828032" y="1664208"/>
            <a:ext cx="292608" cy="292608"/>
          </a:xfrm>
          <a:prstGeom prst="ellipse">
            <a:avLst/>
          </a:prstGeom>
          <a:solidFill>
            <a:srgbClr val="1E2761"/>
          </a:solidFill>
          <a:ln w="12700">
            <a:solidFill>
              <a:srgbClr val="1E2761"/>
            </a:solidFill>
            <a:prstDash val="solid"/>
          </a:ln>
        </p:spPr>
      </p:sp>
      <p:sp>
        <p:nvSpPr>
          <p:cNvPr id="28" name="Text 26"/>
          <p:cNvSpPr/>
          <p:nvPr/>
        </p:nvSpPr>
        <p:spPr>
          <a:xfrm>
            <a:off x="4828032" y="166420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9" name="Text 27"/>
          <p:cNvSpPr/>
          <p:nvPr/>
        </p:nvSpPr>
        <p:spPr>
          <a:xfrm>
            <a:off x="5193792" y="1554480"/>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Systematic approach: A principled, reproducible method is needed to convert raw price history into actionable forecasts.</a:t>
            </a:r>
            <a:endParaRPr lang="en-US" sz="1000" dirty="0"/>
          </a:p>
        </p:txBody>
      </p:sp>
      <p:sp>
        <p:nvSpPr>
          <p:cNvPr id="30" name="Shape 28"/>
          <p:cNvSpPr/>
          <p:nvPr/>
        </p:nvSpPr>
        <p:spPr>
          <a:xfrm>
            <a:off x="4754880" y="2322576"/>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1" name="Shape 29"/>
          <p:cNvSpPr/>
          <p:nvPr/>
        </p:nvSpPr>
        <p:spPr>
          <a:xfrm>
            <a:off x="4828032" y="2505456"/>
            <a:ext cx="292608" cy="292608"/>
          </a:xfrm>
          <a:prstGeom prst="ellipse">
            <a:avLst/>
          </a:prstGeom>
          <a:solidFill>
            <a:srgbClr val="1E2761"/>
          </a:solidFill>
          <a:ln w="12700">
            <a:solidFill>
              <a:srgbClr val="1E2761"/>
            </a:solidFill>
            <a:prstDash val="solid"/>
          </a:ln>
        </p:spPr>
      </p:sp>
      <p:sp>
        <p:nvSpPr>
          <p:cNvPr id="32" name="Text 30"/>
          <p:cNvSpPr/>
          <p:nvPr/>
        </p:nvSpPr>
        <p:spPr>
          <a:xfrm>
            <a:off x="4828032" y="2505456"/>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31"/>
          <p:cNvSpPr/>
          <p:nvPr/>
        </p:nvSpPr>
        <p:spPr>
          <a:xfrm>
            <a:off x="5193792" y="2395728"/>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Short-run accuracy: Investors and traders benefit from reliable near-term predictions over a horizon of weeks to months.</a:t>
            </a:r>
            <a:endParaRPr lang="en-US" sz="1000" dirty="0"/>
          </a:p>
        </p:txBody>
      </p:sp>
      <p:sp>
        <p:nvSpPr>
          <p:cNvPr id="34" name="Shape 32"/>
          <p:cNvSpPr/>
          <p:nvPr/>
        </p:nvSpPr>
        <p:spPr>
          <a:xfrm>
            <a:off x="4754880" y="3163824"/>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5" name="Shape 33"/>
          <p:cNvSpPr/>
          <p:nvPr/>
        </p:nvSpPr>
        <p:spPr>
          <a:xfrm>
            <a:off x="4828032" y="3346704"/>
            <a:ext cx="292608" cy="292608"/>
          </a:xfrm>
          <a:prstGeom prst="ellipse">
            <a:avLst/>
          </a:prstGeom>
          <a:solidFill>
            <a:srgbClr val="1E2761"/>
          </a:solidFill>
          <a:ln w="12700">
            <a:solidFill>
              <a:srgbClr val="1E2761"/>
            </a:solidFill>
            <a:prstDash val="solid"/>
          </a:ln>
        </p:spPr>
      </p:sp>
      <p:sp>
        <p:nvSpPr>
          <p:cNvPr id="36" name="Text 34"/>
          <p:cNvSpPr/>
          <p:nvPr/>
        </p:nvSpPr>
        <p:spPr>
          <a:xfrm>
            <a:off x="4828032" y="334670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5"/>
          <p:cNvSpPr/>
          <p:nvPr/>
        </p:nvSpPr>
        <p:spPr>
          <a:xfrm>
            <a:off x="5193792" y="3236976"/>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Scalability: A technique applicable across multiple market sectors (FMCG, Banking, Pharma) simultaneously.</a:t>
            </a:r>
            <a:endParaRPr lang="en-US" sz="1000" dirty="0"/>
          </a:p>
        </p:txBody>
      </p:sp>
      <p:sp>
        <p:nvSpPr>
          <p:cNvPr id="38" name="Shape 36"/>
          <p:cNvSpPr/>
          <p:nvPr/>
        </p:nvSpPr>
        <p:spPr>
          <a:xfrm>
            <a:off x="4754880" y="4005072"/>
            <a:ext cx="4114800" cy="749808"/>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7000"/>
              </a:srgbClr>
            </a:outerShdw>
          </a:effectLst>
        </p:spPr>
      </p:sp>
      <p:sp>
        <p:nvSpPr>
          <p:cNvPr id="39" name="Shape 37"/>
          <p:cNvSpPr/>
          <p:nvPr/>
        </p:nvSpPr>
        <p:spPr>
          <a:xfrm>
            <a:off x="4828032" y="4187952"/>
            <a:ext cx="292608" cy="292608"/>
          </a:xfrm>
          <a:prstGeom prst="ellipse">
            <a:avLst/>
          </a:prstGeom>
          <a:solidFill>
            <a:srgbClr val="1E2761"/>
          </a:solidFill>
          <a:ln w="12700">
            <a:solidFill>
              <a:srgbClr val="1E2761"/>
            </a:solidFill>
            <a:prstDash val="solid"/>
          </a:ln>
        </p:spPr>
      </p:sp>
      <p:sp>
        <p:nvSpPr>
          <p:cNvPr id="40" name="Text 38"/>
          <p:cNvSpPr/>
          <p:nvPr/>
        </p:nvSpPr>
        <p:spPr>
          <a:xfrm>
            <a:off x="4828032" y="418795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1" name="Text 39"/>
          <p:cNvSpPr/>
          <p:nvPr/>
        </p:nvSpPr>
        <p:spPr>
          <a:xfrm>
            <a:off x="5193792" y="4078224"/>
            <a:ext cx="3566160" cy="62179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Interpretability: Unlike black-box AI models, a statistical framework whose parameters carry clear economic meaning is preferred.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03</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Objectives</a:t>
            </a:r>
            <a:endParaRPr lang="en-US" sz="2600" dirty="0"/>
          </a:p>
        </p:txBody>
      </p:sp>
      <p:sp>
        <p:nvSpPr>
          <p:cNvPr id="6" name="Shape 4"/>
          <p:cNvSpPr/>
          <p:nvPr/>
        </p:nvSpPr>
        <p:spPr>
          <a:xfrm>
            <a:off x="274320" y="1097280"/>
            <a:ext cx="4114800" cy="9601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274320" y="1097280"/>
            <a:ext cx="502920" cy="960120"/>
          </a:xfrm>
          <a:prstGeom prst="rect">
            <a:avLst/>
          </a:prstGeom>
          <a:solidFill>
            <a:srgbClr val="0D9488"/>
          </a:solidFill>
          <a:ln w="12700">
            <a:solidFill>
              <a:srgbClr val="0D9488"/>
            </a:solidFill>
            <a:prstDash val="solid"/>
          </a:ln>
        </p:spPr>
      </p:sp>
      <p:sp>
        <p:nvSpPr>
          <p:cNvPr id="8" name="Text 6"/>
          <p:cNvSpPr/>
          <p:nvPr/>
        </p:nvSpPr>
        <p:spPr>
          <a:xfrm>
            <a:off x="274320" y="1097280"/>
            <a:ext cx="50292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868680" y="1143000"/>
            <a:ext cx="338328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Predict Future Stock Prices</a:t>
            </a:r>
            <a:endParaRPr lang="en-US" sz="1100" dirty="0"/>
          </a:p>
        </p:txBody>
      </p:sp>
      <p:sp>
        <p:nvSpPr>
          <p:cNvPr id="10" name="Text 8"/>
          <p:cNvSpPr/>
          <p:nvPr/>
        </p:nvSpPr>
        <p:spPr>
          <a:xfrm>
            <a:off x="868680" y="1399032"/>
            <a:ext cx="3383280" cy="5943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Apply the ARIMA model to forecast monthly closing prices for the FMCG, Banking, and Pharmaceuticals sectors listed on the NSE from March 2021 to December 2021.</a:t>
            </a:r>
            <a:endParaRPr lang="en-US" sz="950" dirty="0"/>
          </a:p>
        </p:txBody>
      </p:sp>
      <p:sp>
        <p:nvSpPr>
          <p:cNvPr id="11" name="Shape 9"/>
          <p:cNvSpPr/>
          <p:nvPr/>
        </p:nvSpPr>
        <p:spPr>
          <a:xfrm>
            <a:off x="4754880" y="1097280"/>
            <a:ext cx="4114800" cy="9601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2" name="Shape 10"/>
          <p:cNvSpPr/>
          <p:nvPr/>
        </p:nvSpPr>
        <p:spPr>
          <a:xfrm>
            <a:off x="4754880" y="1097280"/>
            <a:ext cx="502920" cy="960120"/>
          </a:xfrm>
          <a:prstGeom prst="rect">
            <a:avLst/>
          </a:prstGeom>
          <a:solidFill>
            <a:srgbClr val="1E2761"/>
          </a:solidFill>
          <a:ln w="12700">
            <a:solidFill>
              <a:srgbClr val="1E2761"/>
            </a:solidFill>
            <a:prstDash val="solid"/>
          </a:ln>
        </p:spPr>
      </p:sp>
      <p:sp>
        <p:nvSpPr>
          <p:cNvPr id="13" name="Text 11"/>
          <p:cNvSpPr/>
          <p:nvPr/>
        </p:nvSpPr>
        <p:spPr>
          <a:xfrm>
            <a:off x="4754880" y="1097280"/>
            <a:ext cx="50292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5349240" y="1143000"/>
            <a:ext cx="338328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Analyse Historical Stock Data</a:t>
            </a:r>
            <a:endParaRPr lang="en-US" sz="1100" dirty="0"/>
          </a:p>
        </p:txBody>
      </p:sp>
      <p:sp>
        <p:nvSpPr>
          <p:cNvPr id="15" name="Text 13"/>
          <p:cNvSpPr/>
          <p:nvPr/>
        </p:nvSpPr>
        <p:spPr>
          <a:xfrm>
            <a:off x="5349240" y="1399032"/>
            <a:ext cx="3383280" cy="5943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Examine three years of monthly NSE data (April 2018 – February 2021) to identify underlying patterns, trends, and autocorrelation structures across all three sectors.</a:t>
            </a:r>
            <a:endParaRPr lang="en-US" sz="950" dirty="0"/>
          </a:p>
        </p:txBody>
      </p:sp>
      <p:sp>
        <p:nvSpPr>
          <p:cNvPr id="16" name="Shape 14"/>
          <p:cNvSpPr/>
          <p:nvPr/>
        </p:nvSpPr>
        <p:spPr>
          <a:xfrm>
            <a:off x="274320" y="2194560"/>
            <a:ext cx="4114800" cy="9601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7" name="Shape 15"/>
          <p:cNvSpPr/>
          <p:nvPr/>
        </p:nvSpPr>
        <p:spPr>
          <a:xfrm>
            <a:off x="274320" y="2194560"/>
            <a:ext cx="502920" cy="960120"/>
          </a:xfrm>
          <a:prstGeom prst="rect">
            <a:avLst/>
          </a:prstGeom>
          <a:solidFill>
            <a:srgbClr val="0D9488"/>
          </a:solidFill>
          <a:ln w="12700">
            <a:solidFill>
              <a:srgbClr val="0D9488"/>
            </a:solidFill>
            <a:prstDash val="solid"/>
          </a:ln>
        </p:spPr>
      </p:sp>
      <p:sp>
        <p:nvSpPr>
          <p:cNvPr id="18" name="Text 16"/>
          <p:cNvSpPr/>
          <p:nvPr/>
        </p:nvSpPr>
        <p:spPr>
          <a:xfrm>
            <a:off x="274320" y="2194560"/>
            <a:ext cx="50292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9" name="Text 17"/>
          <p:cNvSpPr/>
          <p:nvPr/>
        </p:nvSpPr>
        <p:spPr>
          <a:xfrm>
            <a:off x="868680" y="2240280"/>
            <a:ext cx="338328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Determine Optimal Model Parameters</a:t>
            </a:r>
            <a:endParaRPr lang="en-US" sz="1100" dirty="0"/>
          </a:p>
        </p:txBody>
      </p:sp>
      <p:sp>
        <p:nvSpPr>
          <p:cNvPr id="20" name="Text 18"/>
          <p:cNvSpPr/>
          <p:nvPr/>
        </p:nvSpPr>
        <p:spPr>
          <a:xfrm>
            <a:off x="868680" y="2496312"/>
            <a:ext cx="3383280" cy="5943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Use ACF, PACF, and information criteria (AIC, BIC, HQIC) to select the best-fitting ARIMA(p, d, q) parameter combination for each sector's time series.</a:t>
            </a:r>
            <a:endParaRPr lang="en-US" sz="950" dirty="0"/>
          </a:p>
        </p:txBody>
      </p:sp>
      <p:sp>
        <p:nvSpPr>
          <p:cNvPr id="21" name="Shape 19"/>
          <p:cNvSpPr/>
          <p:nvPr/>
        </p:nvSpPr>
        <p:spPr>
          <a:xfrm>
            <a:off x="4754880" y="2194560"/>
            <a:ext cx="4114800" cy="9601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2" name="Shape 20"/>
          <p:cNvSpPr/>
          <p:nvPr/>
        </p:nvSpPr>
        <p:spPr>
          <a:xfrm>
            <a:off x="4754880" y="2194560"/>
            <a:ext cx="502920" cy="960120"/>
          </a:xfrm>
          <a:prstGeom prst="rect">
            <a:avLst/>
          </a:prstGeom>
          <a:solidFill>
            <a:srgbClr val="1E2761"/>
          </a:solidFill>
          <a:ln w="12700">
            <a:solidFill>
              <a:srgbClr val="1E2761"/>
            </a:solidFill>
            <a:prstDash val="solid"/>
          </a:ln>
        </p:spPr>
      </p:sp>
      <p:sp>
        <p:nvSpPr>
          <p:cNvPr id="23" name="Text 21"/>
          <p:cNvSpPr/>
          <p:nvPr/>
        </p:nvSpPr>
        <p:spPr>
          <a:xfrm>
            <a:off x="4754880" y="2194560"/>
            <a:ext cx="50292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4" name="Text 22"/>
          <p:cNvSpPr/>
          <p:nvPr/>
        </p:nvSpPr>
        <p:spPr>
          <a:xfrm>
            <a:off x="5349240" y="2240280"/>
            <a:ext cx="338328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Evaluate Model Performance</a:t>
            </a:r>
            <a:endParaRPr lang="en-US" sz="1100" dirty="0"/>
          </a:p>
        </p:txBody>
      </p:sp>
      <p:sp>
        <p:nvSpPr>
          <p:cNvPr id="25" name="Text 23"/>
          <p:cNvSpPr/>
          <p:nvPr/>
        </p:nvSpPr>
        <p:spPr>
          <a:xfrm>
            <a:off x="5349240" y="2496312"/>
            <a:ext cx="3383280" cy="5943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Assess the goodness-of-fit using statistical diagnostics including Log-Likelihood, standard deviation of innovations, and graphical validation of stationarity.</a:t>
            </a:r>
            <a:endParaRPr lang="en-US" sz="950" dirty="0"/>
          </a:p>
        </p:txBody>
      </p:sp>
      <p:sp>
        <p:nvSpPr>
          <p:cNvPr id="26" name="Shape 24"/>
          <p:cNvSpPr/>
          <p:nvPr/>
        </p:nvSpPr>
        <p:spPr>
          <a:xfrm>
            <a:off x="2514600" y="3291840"/>
            <a:ext cx="4114800" cy="9601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7" name="Shape 25"/>
          <p:cNvSpPr/>
          <p:nvPr/>
        </p:nvSpPr>
        <p:spPr>
          <a:xfrm>
            <a:off x="2514600" y="3291840"/>
            <a:ext cx="502920" cy="960120"/>
          </a:xfrm>
          <a:prstGeom prst="rect">
            <a:avLst/>
          </a:prstGeom>
          <a:solidFill>
            <a:srgbClr val="F59E0B"/>
          </a:solidFill>
          <a:ln w="12700">
            <a:solidFill>
              <a:srgbClr val="F59E0B"/>
            </a:solidFill>
            <a:prstDash val="solid"/>
          </a:ln>
        </p:spPr>
      </p:sp>
      <p:sp>
        <p:nvSpPr>
          <p:cNvPr id="28" name="Text 26"/>
          <p:cNvSpPr/>
          <p:nvPr/>
        </p:nvSpPr>
        <p:spPr>
          <a:xfrm>
            <a:off x="2514600" y="3291840"/>
            <a:ext cx="50292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9" name="Text 27"/>
          <p:cNvSpPr/>
          <p:nvPr/>
        </p:nvSpPr>
        <p:spPr>
          <a:xfrm>
            <a:off x="3108960" y="3337560"/>
            <a:ext cx="338328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Guide Investment Decisions</a:t>
            </a:r>
            <a:endParaRPr lang="en-US" sz="1100" dirty="0"/>
          </a:p>
        </p:txBody>
      </p:sp>
      <p:sp>
        <p:nvSpPr>
          <p:cNvPr id="30" name="Text 28"/>
          <p:cNvSpPr/>
          <p:nvPr/>
        </p:nvSpPr>
        <p:spPr>
          <a:xfrm>
            <a:off x="3108960" y="3593592"/>
            <a:ext cx="3383280" cy="5943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Translate model outputs into practical investment insight — identifying periods favourable for buying or selling shares across FMCG, Banking, and Pharma sectors.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04</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Dataset Description</a:t>
            </a:r>
            <a:endParaRPr lang="en-US" sz="2600" dirty="0"/>
          </a:p>
        </p:txBody>
      </p:sp>
      <p:sp>
        <p:nvSpPr>
          <p:cNvPr id="6" name="Shape 4"/>
          <p:cNvSpPr/>
          <p:nvPr/>
        </p:nvSpPr>
        <p:spPr>
          <a:xfrm>
            <a:off x="274320" y="1051560"/>
            <a:ext cx="3840480" cy="1097280"/>
          </a:xfrm>
          <a:prstGeom prst="rect">
            <a:avLst/>
          </a:prstGeom>
          <a:solidFill>
            <a:srgbClr val="1E2761"/>
          </a:solidFill>
          <a:ln w="12700">
            <a:solidFill>
              <a:srgbClr val="1E2761"/>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411480" y="1115568"/>
            <a:ext cx="3657600" cy="256032"/>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Data Source</a:t>
            </a:r>
            <a:endParaRPr lang="en-US" sz="1300" dirty="0"/>
          </a:p>
        </p:txBody>
      </p:sp>
      <p:sp>
        <p:nvSpPr>
          <p:cNvPr id="8" name="Text 6"/>
          <p:cNvSpPr/>
          <p:nvPr/>
        </p:nvSpPr>
        <p:spPr>
          <a:xfrm>
            <a:off x="411480" y="1389888"/>
            <a:ext cx="3611880" cy="6858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National Stock Exchange of India (NSE)</a:t>
            </a:r>
            <a:endParaRPr lang="en-US" sz="1050" dirty="0"/>
          </a:p>
          <a:p>
            <a:pPr indent="0" marL="0">
              <a:buNone/>
            </a:pPr>
            <a:r>
              <a:rPr lang="en-US" sz="1050" dirty="0">
                <a:solidFill>
                  <a:srgbClr val="CADCFC"/>
                </a:solidFill>
                <a:latin typeface="Calibri" pitchFamily="34" charset="0"/>
                <a:ea typeface="Calibri" pitchFamily="34" charset="-122"/>
                <a:cs typeface="Calibri" pitchFamily="34" charset="-120"/>
              </a:rPr>
              <a:t>Monthly closing prices | April 2018 – February 2021</a:t>
            </a:r>
            <a:endParaRPr lang="en-US" sz="1050" dirty="0"/>
          </a:p>
          <a:p>
            <a:pPr indent="0" marL="0">
              <a:buNone/>
            </a:pPr>
            <a:r>
              <a:rPr lang="en-US" sz="1050" dirty="0">
                <a:solidFill>
                  <a:srgbClr val="CADCFC"/>
                </a:solidFill>
                <a:latin typeface="Calibri" pitchFamily="34" charset="0"/>
                <a:ea typeface="Calibri" pitchFamily="34" charset="-122"/>
                <a:cs typeface="Calibri" pitchFamily="34" charset="-120"/>
              </a:rPr>
              <a:t>34 monthly observations per sector</a:t>
            </a:r>
            <a:endParaRPr lang="en-US" sz="1050" dirty="0"/>
          </a:p>
        </p:txBody>
      </p:sp>
      <p:sp>
        <p:nvSpPr>
          <p:cNvPr id="9" name="Shape 7"/>
          <p:cNvSpPr/>
          <p:nvPr/>
        </p:nvSpPr>
        <p:spPr>
          <a:xfrm>
            <a:off x="274320" y="2267712"/>
            <a:ext cx="1188720" cy="502920"/>
          </a:xfrm>
          <a:prstGeom prst="rect">
            <a:avLst/>
          </a:prstGeom>
          <a:solidFill>
            <a:srgbClr val="0D9488"/>
          </a:solidFill>
          <a:ln w="12700">
            <a:solidFill>
              <a:srgbClr val="0D9488"/>
            </a:solidFill>
            <a:prstDash val="solid"/>
          </a:ln>
        </p:spPr>
      </p:sp>
      <p:sp>
        <p:nvSpPr>
          <p:cNvPr id="10" name="Text 8"/>
          <p:cNvSpPr/>
          <p:nvPr/>
        </p:nvSpPr>
        <p:spPr>
          <a:xfrm>
            <a:off x="274320" y="2267712"/>
            <a:ext cx="11887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FMCG Sector</a:t>
            </a:r>
            <a:endParaRPr lang="en-US" sz="1000" dirty="0"/>
          </a:p>
        </p:txBody>
      </p:sp>
      <p:sp>
        <p:nvSpPr>
          <p:cNvPr id="11" name="Shape 9"/>
          <p:cNvSpPr/>
          <p:nvPr/>
        </p:nvSpPr>
        <p:spPr>
          <a:xfrm>
            <a:off x="1572768" y="2267712"/>
            <a:ext cx="1188720" cy="502920"/>
          </a:xfrm>
          <a:prstGeom prst="rect">
            <a:avLst/>
          </a:prstGeom>
          <a:solidFill>
            <a:srgbClr val="F59E0B"/>
          </a:solidFill>
          <a:ln w="12700">
            <a:solidFill>
              <a:srgbClr val="F59E0B"/>
            </a:solidFill>
            <a:prstDash val="solid"/>
          </a:ln>
        </p:spPr>
      </p:sp>
      <p:sp>
        <p:nvSpPr>
          <p:cNvPr id="12" name="Text 10"/>
          <p:cNvSpPr/>
          <p:nvPr/>
        </p:nvSpPr>
        <p:spPr>
          <a:xfrm>
            <a:off x="1572768" y="2267712"/>
            <a:ext cx="11887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Banking Sector</a:t>
            </a:r>
            <a:endParaRPr lang="en-US" sz="1000" dirty="0"/>
          </a:p>
        </p:txBody>
      </p:sp>
      <p:sp>
        <p:nvSpPr>
          <p:cNvPr id="13" name="Shape 11"/>
          <p:cNvSpPr/>
          <p:nvPr/>
        </p:nvSpPr>
        <p:spPr>
          <a:xfrm>
            <a:off x="2871216" y="2267712"/>
            <a:ext cx="1188720" cy="502920"/>
          </a:xfrm>
          <a:prstGeom prst="rect">
            <a:avLst/>
          </a:prstGeom>
          <a:solidFill>
            <a:srgbClr val="8B5CF6"/>
          </a:solidFill>
          <a:ln w="12700">
            <a:solidFill>
              <a:srgbClr val="8B5CF6"/>
            </a:solidFill>
            <a:prstDash val="solid"/>
          </a:ln>
        </p:spPr>
      </p:sp>
      <p:sp>
        <p:nvSpPr>
          <p:cNvPr id="14" name="Text 12"/>
          <p:cNvSpPr/>
          <p:nvPr/>
        </p:nvSpPr>
        <p:spPr>
          <a:xfrm>
            <a:off x="2871216" y="2267712"/>
            <a:ext cx="11887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Pharma Sector</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389120" y="1051560"/>
          <a:ext cx="4480560" cy="2377440"/>
        </p:xfrm>
        <a:graphic>
          <a:graphicData uri="http://schemas.openxmlformats.org/drawingml/2006/table">
            <a:tbl>
              <a:tblPr/>
              <a:tblGrid>
                <a:gridCol w="1005840"/>
                <a:gridCol w="2286000"/>
                <a:gridCol w="1188720"/>
              </a:tblGrid>
              <a:tr h="338328">
                <a:tc>
                  <a:txBody>
                    <a:bodyPr/>
                    <a:lstStyle/>
                    <a:p>
                      <a:pPr algn="ctr" indent="0" marL="0">
                        <a:buNone/>
                      </a:pPr>
                      <a:r>
                        <a:rPr lang="en-US" sz="1100" b="1" dirty="0">
                          <a:solidFill>
                            <a:srgbClr val="FFFFFF"/>
                          </a:solidFill>
                        </a:rPr>
                        <a:t>Feature</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rPr>
                        <a:t>Description</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rPr>
                        <a:t>Role in Model</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338328">
                <a:tc>
                  <a:txBody>
                    <a:bodyPr/>
                    <a:lstStyle/>
                    <a:p>
                      <a:pPr algn="ctr" indent="0" marL="0">
                        <a:buNone/>
                      </a:pPr>
                      <a:r>
                        <a:rPr lang="en-US" sz="1000" dirty="0">
                          <a:solidFill>
                            <a:srgbClr val="1E293B"/>
                          </a:solidFill>
                        </a:rPr>
                        <a:t>Date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l" indent="0" marL="0">
                        <a:buNone/>
                      </a:pPr>
                      <a:r>
                        <a:rPr lang="en-US" sz="1000" dirty="0">
                          <a:solidFill>
                            <a:srgbClr val="1E293B"/>
                          </a:solidFill>
                        </a:rPr>
                        <a:t>Monthly timestamp (Apr 2018 – Feb 2021)</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l" indent="0" marL="0">
                        <a:buNone/>
                      </a:pPr>
                      <a:r>
                        <a:rPr lang="en-US" sz="1000" dirty="0">
                          <a:solidFill>
                            <a:srgbClr val="1E293B"/>
                          </a:solidFill>
                        </a:rPr>
                        <a:t>Time index</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38328">
                <a:tc>
                  <a:txBody>
                    <a:bodyPr/>
                    <a:lstStyle/>
                    <a:p>
                      <a:pPr algn="ctr" indent="0" marL="0">
                        <a:buNone/>
                      </a:pPr>
                      <a:r>
                        <a:rPr lang="en-US" sz="1000" dirty="0">
                          <a:solidFill>
                            <a:srgbClr val="1E293B"/>
                          </a:solidFill>
                        </a:rPr>
                        <a:t>Open Price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First traded price of the month</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Reference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algn="ctr" indent="0" marL="0">
                        <a:buNone/>
                      </a:pPr>
                      <a:r>
                        <a:rPr lang="en-US" sz="1000" dirty="0">
                          <a:solidFill>
                            <a:srgbClr val="1E293B"/>
                          </a:solidFill>
                        </a:rPr>
                        <a:t>High Price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l" indent="0" marL="0">
                        <a:buNone/>
                      </a:pPr>
                      <a:r>
                        <a:rPr lang="en-US" sz="1000" dirty="0">
                          <a:solidFill>
                            <a:srgbClr val="1E293B"/>
                          </a:solidFill>
                        </a:rPr>
                        <a:t>Maximum price during the month</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l" indent="0" marL="0">
                        <a:buNone/>
                      </a:pPr>
                      <a:r>
                        <a:rPr lang="en-US" sz="1000" dirty="0">
                          <a:solidFill>
                            <a:srgbClr val="1E293B"/>
                          </a:solidFill>
                        </a:rPr>
                        <a:t>Volatility indicator</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38328">
                <a:tc>
                  <a:txBody>
                    <a:bodyPr/>
                    <a:lstStyle/>
                    <a:p>
                      <a:pPr algn="ctr" indent="0" marL="0">
                        <a:buNone/>
                      </a:pPr>
                      <a:r>
                        <a:rPr lang="en-US" sz="1000" dirty="0">
                          <a:solidFill>
                            <a:srgbClr val="1E293B"/>
                          </a:solidFill>
                        </a:rPr>
                        <a:t>Low Price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Minimum price during the month</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Volatility indicator</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algn="ctr" indent="0" marL="0">
                        <a:buNone/>
                      </a:pPr>
                      <a:r>
                        <a:rPr lang="en-US" sz="1000" dirty="0">
                          <a:solidFill>
                            <a:srgbClr val="1E293B"/>
                          </a:solidFill>
                        </a:rPr>
                        <a:t>Close Price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l" indent="0" marL="0">
                        <a:buNone/>
                      </a:pPr>
                      <a:r>
                        <a:rPr lang="en-US" sz="1000" dirty="0">
                          <a:solidFill>
                            <a:srgbClr val="1E293B"/>
                          </a:solidFill>
                        </a:rPr>
                        <a:t>Final traded price of the month</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l" indent="0" marL="0">
                        <a:buNone/>
                      </a:pPr>
                      <a:r>
                        <a:rPr lang="en-US" sz="1000" dirty="0">
                          <a:solidFill>
                            <a:srgbClr val="0D9488"/>
                          </a:solidFill>
                        </a:rPr>
                        <a:t>Target variable ✓</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38328">
                <a:tc>
                  <a:txBody>
                    <a:bodyPr/>
                    <a:lstStyle/>
                    <a:p>
                      <a:pPr algn="ctr" indent="0" marL="0">
                        <a:buNone/>
                      </a:pPr>
                      <a:r>
                        <a:rPr lang="en-US" sz="1000" dirty="0">
                          <a:solidFill>
                            <a:srgbClr val="1E293B"/>
                          </a:solidFill>
                        </a:rPr>
                        <a:t>Volume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Total shares traded per month</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rPr>
                        <a:t>Activity measure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Shape 13"/>
          <p:cNvSpPr/>
          <p:nvPr/>
        </p:nvSpPr>
        <p:spPr>
          <a:xfrm>
            <a:off x="274320" y="2926080"/>
            <a:ext cx="8595360" cy="274320"/>
          </a:xfrm>
          <a:prstGeom prst="rect">
            <a:avLst/>
          </a:prstGeom>
          <a:solidFill>
            <a:srgbClr val="1E2761"/>
          </a:solidFill>
          <a:ln w="12700">
            <a:solidFill>
              <a:srgbClr val="1E2761"/>
            </a:solidFill>
            <a:prstDash val="solid"/>
          </a:ln>
        </p:spPr>
      </p:sp>
      <p:sp>
        <p:nvSpPr>
          <p:cNvPr id="17" name="Text 14"/>
          <p:cNvSpPr/>
          <p:nvPr/>
        </p:nvSpPr>
        <p:spPr>
          <a:xfrm>
            <a:off x="365760" y="2926080"/>
            <a:ext cx="8412480" cy="274320"/>
          </a:xfrm>
          <a:prstGeom prst="rect">
            <a:avLst/>
          </a:prstGeom>
          <a:noFill/>
          <a:ln/>
        </p:spPr>
        <p:txBody>
          <a:bodyPr wrap="square" lIns="0" tIns="0" rIns="0" bIns="0"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Data Pre-processing Steps</a:t>
            </a:r>
            <a:endParaRPr lang="en-US" sz="1200" dirty="0"/>
          </a:p>
        </p:txBody>
      </p:sp>
      <p:sp>
        <p:nvSpPr>
          <p:cNvPr id="18" name="Shape 15"/>
          <p:cNvSpPr/>
          <p:nvPr/>
        </p:nvSpPr>
        <p:spPr>
          <a:xfrm>
            <a:off x="274320" y="3291840"/>
            <a:ext cx="1645920" cy="14630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19" name="Shape 16"/>
          <p:cNvSpPr/>
          <p:nvPr/>
        </p:nvSpPr>
        <p:spPr>
          <a:xfrm>
            <a:off x="274320" y="3291840"/>
            <a:ext cx="1645920" cy="54864"/>
          </a:xfrm>
          <a:prstGeom prst="rect">
            <a:avLst/>
          </a:prstGeom>
          <a:solidFill>
            <a:srgbClr val="0D9488"/>
          </a:solidFill>
          <a:ln w="12700">
            <a:solidFill>
              <a:srgbClr val="0D9488"/>
            </a:solidFill>
            <a:prstDash val="solid"/>
          </a:ln>
        </p:spPr>
      </p:sp>
      <p:sp>
        <p:nvSpPr>
          <p:cNvPr id="20" name="Text 17"/>
          <p:cNvSpPr/>
          <p:nvPr/>
        </p:nvSpPr>
        <p:spPr>
          <a:xfrm>
            <a:off x="365760" y="3364992"/>
            <a:ext cx="1463040" cy="132588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① Log Transformation</a:t>
            </a:r>
            <a:endParaRPr lang="en-US" sz="1050" dirty="0"/>
          </a:p>
        </p:txBody>
      </p:sp>
      <p:sp>
        <p:nvSpPr>
          <p:cNvPr id="21" name="Shape 18"/>
          <p:cNvSpPr/>
          <p:nvPr/>
        </p:nvSpPr>
        <p:spPr>
          <a:xfrm>
            <a:off x="2011680" y="3291840"/>
            <a:ext cx="1645920" cy="14630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22" name="Shape 19"/>
          <p:cNvSpPr/>
          <p:nvPr/>
        </p:nvSpPr>
        <p:spPr>
          <a:xfrm>
            <a:off x="2011680" y="3291840"/>
            <a:ext cx="1645920" cy="54864"/>
          </a:xfrm>
          <a:prstGeom prst="rect">
            <a:avLst/>
          </a:prstGeom>
          <a:solidFill>
            <a:srgbClr val="0D9488"/>
          </a:solidFill>
          <a:ln w="12700">
            <a:solidFill>
              <a:srgbClr val="0D9488"/>
            </a:solidFill>
            <a:prstDash val="solid"/>
          </a:ln>
        </p:spPr>
      </p:sp>
      <p:sp>
        <p:nvSpPr>
          <p:cNvPr id="23" name="Text 20"/>
          <p:cNvSpPr/>
          <p:nvPr/>
        </p:nvSpPr>
        <p:spPr>
          <a:xfrm>
            <a:off x="2103120" y="3364992"/>
            <a:ext cx="1463040" cy="132588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② Stationarity Check (ADF Test)</a:t>
            </a:r>
            <a:endParaRPr lang="en-US" sz="1050" dirty="0"/>
          </a:p>
        </p:txBody>
      </p:sp>
      <p:sp>
        <p:nvSpPr>
          <p:cNvPr id="24" name="Shape 21"/>
          <p:cNvSpPr/>
          <p:nvPr/>
        </p:nvSpPr>
        <p:spPr>
          <a:xfrm>
            <a:off x="3749040" y="3291840"/>
            <a:ext cx="1645920" cy="14630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25" name="Shape 22"/>
          <p:cNvSpPr/>
          <p:nvPr/>
        </p:nvSpPr>
        <p:spPr>
          <a:xfrm>
            <a:off x="3749040" y="3291840"/>
            <a:ext cx="1645920" cy="54864"/>
          </a:xfrm>
          <a:prstGeom prst="rect">
            <a:avLst/>
          </a:prstGeom>
          <a:solidFill>
            <a:srgbClr val="0D9488"/>
          </a:solidFill>
          <a:ln w="12700">
            <a:solidFill>
              <a:srgbClr val="0D9488"/>
            </a:solidFill>
            <a:prstDash val="solid"/>
          </a:ln>
        </p:spPr>
      </p:sp>
      <p:sp>
        <p:nvSpPr>
          <p:cNvPr id="26" name="Text 23"/>
          <p:cNvSpPr/>
          <p:nvPr/>
        </p:nvSpPr>
        <p:spPr>
          <a:xfrm>
            <a:off x="3840480" y="3364992"/>
            <a:ext cx="1463040" cy="132588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③ Differencing (d=1)</a:t>
            </a:r>
            <a:endParaRPr lang="en-US" sz="1050" dirty="0"/>
          </a:p>
        </p:txBody>
      </p:sp>
      <p:sp>
        <p:nvSpPr>
          <p:cNvPr id="27" name="Shape 24"/>
          <p:cNvSpPr/>
          <p:nvPr/>
        </p:nvSpPr>
        <p:spPr>
          <a:xfrm>
            <a:off x="5486400" y="3291840"/>
            <a:ext cx="1645920" cy="14630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28" name="Shape 25"/>
          <p:cNvSpPr/>
          <p:nvPr/>
        </p:nvSpPr>
        <p:spPr>
          <a:xfrm>
            <a:off x="5486400" y="3291840"/>
            <a:ext cx="1645920" cy="54864"/>
          </a:xfrm>
          <a:prstGeom prst="rect">
            <a:avLst/>
          </a:prstGeom>
          <a:solidFill>
            <a:srgbClr val="0D9488"/>
          </a:solidFill>
          <a:ln w="12700">
            <a:solidFill>
              <a:srgbClr val="0D9488"/>
            </a:solidFill>
            <a:prstDash val="solid"/>
          </a:ln>
        </p:spPr>
      </p:sp>
      <p:sp>
        <p:nvSpPr>
          <p:cNvPr id="29" name="Text 26"/>
          <p:cNvSpPr/>
          <p:nvPr/>
        </p:nvSpPr>
        <p:spPr>
          <a:xfrm>
            <a:off x="5577840" y="3364992"/>
            <a:ext cx="1463040" cy="132588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④ ACF / PACF Analysis</a:t>
            </a:r>
            <a:endParaRPr lang="en-US" sz="1050" dirty="0"/>
          </a:p>
        </p:txBody>
      </p:sp>
      <p:sp>
        <p:nvSpPr>
          <p:cNvPr id="30" name="Shape 27"/>
          <p:cNvSpPr/>
          <p:nvPr/>
        </p:nvSpPr>
        <p:spPr>
          <a:xfrm>
            <a:off x="7223760" y="3291840"/>
            <a:ext cx="1645920" cy="146304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31" name="Shape 28"/>
          <p:cNvSpPr/>
          <p:nvPr/>
        </p:nvSpPr>
        <p:spPr>
          <a:xfrm>
            <a:off x="7223760" y="3291840"/>
            <a:ext cx="1645920" cy="54864"/>
          </a:xfrm>
          <a:prstGeom prst="rect">
            <a:avLst/>
          </a:prstGeom>
          <a:solidFill>
            <a:srgbClr val="0D9488"/>
          </a:solidFill>
          <a:ln w="12700">
            <a:solidFill>
              <a:srgbClr val="0D9488"/>
            </a:solidFill>
            <a:prstDash val="solid"/>
          </a:ln>
        </p:spPr>
      </p:sp>
      <p:sp>
        <p:nvSpPr>
          <p:cNvPr id="32" name="Text 29"/>
          <p:cNvSpPr/>
          <p:nvPr/>
        </p:nvSpPr>
        <p:spPr>
          <a:xfrm>
            <a:off x="7315200" y="3364992"/>
            <a:ext cx="1463040" cy="132588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⑤ Model Selection (AIC / BIC)</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05</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6" name="Shape 4"/>
          <p:cNvSpPr/>
          <p:nvPr/>
        </p:nvSpPr>
        <p:spPr>
          <a:xfrm>
            <a:off x="274320" y="1078992"/>
            <a:ext cx="2743200" cy="157276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274320" y="1078992"/>
            <a:ext cx="2743200" cy="347472"/>
          </a:xfrm>
          <a:prstGeom prst="rect">
            <a:avLst/>
          </a:prstGeom>
          <a:solidFill>
            <a:srgbClr val="0D9488"/>
          </a:solidFill>
          <a:ln w="12700">
            <a:solidFill>
              <a:srgbClr val="0D9488"/>
            </a:solidFill>
            <a:prstDash val="solid"/>
          </a:ln>
        </p:spPr>
      </p:sp>
      <p:sp>
        <p:nvSpPr>
          <p:cNvPr id="8" name="Text 6"/>
          <p:cNvSpPr/>
          <p:nvPr/>
        </p:nvSpPr>
        <p:spPr>
          <a:xfrm>
            <a:off x="365760" y="1115568"/>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Time Series Analysis</a:t>
            </a:r>
            <a:endParaRPr lang="en-US" sz="1100" dirty="0"/>
          </a:p>
        </p:txBody>
      </p:sp>
      <p:sp>
        <p:nvSpPr>
          <p:cNvPr id="9" name="Text 7"/>
          <p:cNvSpPr/>
          <p:nvPr/>
        </p:nvSpPr>
        <p:spPr>
          <a:xfrm>
            <a:off x="365760" y="1499616"/>
            <a:ext cx="2560320" cy="10972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Plot closing prices over time to visually detect trends, cycles, and irregular components. The closing price is chosen as it reflects all trading activity within a period.</a:t>
            </a:r>
            <a:endParaRPr lang="en-US" sz="1000" dirty="0"/>
          </a:p>
        </p:txBody>
      </p:sp>
      <p:sp>
        <p:nvSpPr>
          <p:cNvPr id="10" name="Shape 8"/>
          <p:cNvSpPr/>
          <p:nvPr/>
        </p:nvSpPr>
        <p:spPr>
          <a:xfrm>
            <a:off x="3246120" y="1078992"/>
            <a:ext cx="2743200" cy="157276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11" name="Shape 9"/>
          <p:cNvSpPr/>
          <p:nvPr/>
        </p:nvSpPr>
        <p:spPr>
          <a:xfrm>
            <a:off x="3246120" y="1078992"/>
            <a:ext cx="2743200" cy="347472"/>
          </a:xfrm>
          <a:prstGeom prst="rect">
            <a:avLst/>
          </a:prstGeom>
          <a:solidFill>
            <a:srgbClr val="1E2761"/>
          </a:solidFill>
          <a:ln w="12700">
            <a:solidFill>
              <a:srgbClr val="1E2761"/>
            </a:solidFill>
            <a:prstDash val="solid"/>
          </a:ln>
        </p:spPr>
      </p:sp>
      <p:sp>
        <p:nvSpPr>
          <p:cNvPr id="12" name="Text 10"/>
          <p:cNvSpPr/>
          <p:nvPr/>
        </p:nvSpPr>
        <p:spPr>
          <a:xfrm>
            <a:off x="3337560" y="1115568"/>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Stationarity Testing</a:t>
            </a:r>
            <a:endParaRPr lang="en-US" sz="1100" dirty="0"/>
          </a:p>
        </p:txBody>
      </p:sp>
      <p:sp>
        <p:nvSpPr>
          <p:cNvPr id="13" name="Text 11"/>
          <p:cNvSpPr/>
          <p:nvPr/>
        </p:nvSpPr>
        <p:spPr>
          <a:xfrm>
            <a:off x="3337560" y="1499616"/>
            <a:ext cx="2560320" cy="10972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Apply the Augmented Dickey-Fuller (ADF) test to determine if the series has a unit root. Non-stationary data is log-transformed and differenced until stationarity is achieved.</a:t>
            </a:r>
            <a:endParaRPr lang="en-US" sz="1000" dirty="0"/>
          </a:p>
        </p:txBody>
      </p:sp>
      <p:sp>
        <p:nvSpPr>
          <p:cNvPr id="14" name="Shape 12"/>
          <p:cNvSpPr/>
          <p:nvPr/>
        </p:nvSpPr>
        <p:spPr>
          <a:xfrm>
            <a:off x="6217920" y="1078992"/>
            <a:ext cx="2743200" cy="157276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15" name="Shape 13"/>
          <p:cNvSpPr/>
          <p:nvPr/>
        </p:nvSpPr>
        <p:spPr>
          <a:xfrm>
            <a:off x="6217920" y="1078992"/>
            <a:ext cx="2743200" cy="347472"/>
          </a:xfrm>
          <a:prstGeom prst="rect">
            <a:avLst/>
          </a:prstGeom>
          <a:solidFill>
            <a:srgbClr val="0D9488"/>
          </a:solidFill>
          <a:ln w="12700">
            <a:solidFill>
              <a:srgbClr val="0D9488"/>
            </a:solidFill>
            <a:prstDash val="solid"/>
          </a:ln>
        </p:spPr>
      </p:sp>
      <p:sp>
        <p:nvSpPr>
          <p:cNvPr id="16" name="Text 14"/>
          <p:cNvSpPr/>
          <p:nvPr/>
        </p:nvSpPr>
        <p:spPr>
          <a:xfrm>
            <a:off x="6309360" y="1115568"/>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ACF &amp; PACF Plots</a:t>
            </a:r>
            <a:endParaRPr lang="en-US" sz="1100" dirty="0"/>
          </a:p>
        </p:txBody>
      </p:sp>
      <p:sp>
        <p:nvSpPr>
          <p:cNvPr id="17" name="Text 15"/>
          <p:cNvSpPr/>
          <p:nvPr/>
        </p:nvSpPr>
        <p:spPr>
          <a:xfrm>
            <a:off x="6309360" y="1499616"/>
            <a:ext cx="2560320" cy="10972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Autocorrelation Function (ACF) reveals the MA(q) order — the number of lagged forecast errors to include. Partial ACF reveals the AR(p) order — number of lagged values in the model.</a:t>
            </a:r>
            <a:endParaRPr lang="en-US" sz="1000" dirty="0"/>
          </a:p>
        </p:txBody>
      </p:sp>
      <p:sp>
        <p:nvSpPr>
          <p:cNvPr id="18" name="Shape 16"/>
          <p:cNvSpPr/>
          <p:nvPr/>
        </p:nvSpPr>
        <p:spPr>
          <a:xfrm>
            <a:off x="1737360" y="2788920"/>
            <a:ext cx="2743200" cy="2148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19" name="Shape 17"/>
          <p:cNvSpPr/>
          <p:nvPr/>
        </p:nvSpPr>
        <p:spPr>
          <a:xfrm>
            <a:off x="1737360" y="2788920"/>
            <a:ext cx="2743200" cy="347472"/>
          </a:xfrm>
          <a:prstGeom prst="rect">
            <a:avLst/>
          </a:prstGeom>
          <a:solidFill>
            <a:srgbClr val="1E2761"/>
          </a:solidFill>
          <a:ln w="12700">
            <a:solidFill>
              <a:srgbClr val="1E2761"/>
            </a:solidFill>
            <a:prstDash val="solid"/>
          </a:ln>
        </p:spPr>
      </p:sp>
      <p:sp>
        <p:nvSpPr>
          <p:cNvPr id="20" name="Text 18"/>
          <p:cNvSpPr/>
          <p:nvPr/>
        </p:nvSpPr>
        <p:spPr>
          <a:xfrm>
            <a:off x="1828800" y="2825496"/>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ARIMA Model Building</a:t>
            </a:r>
            <a:endParaRPr lang="en-US" sz="1100" dirty="0"/>
          </a:p>
        </p:txBody>
      </p:sp>
      <p:sp>
        <p:nvSpPr>
          <p:cNvPr id="21" name="Text 19"/>
          <p:cNvSpPr/>
          <p:nvPr/>
        </p:nvSpPr>
        <p:spPr>
          <a:xfrm>
            <a:off x="1828800" y="3209544"/>
            <a:ext cx="2560320" cy="1645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Fit ARIMA(p, d, q) using Conditional Sum of Squares (CSS) estimation. Model selection is guided by AIC, BIC, and HQIC criteria — lower values indicate better fit.</a:t>
            </a:r>
            <a:endParaRPr lang="en-US" sz="1000" dirty="0"/>
          </a:p>
        </p:txBody>
      </p:sp>
      <p:sp>
        <p:nvSpPr>
          <p:cNvPr id="22" name="Shape 20"/>
          <p:cNvSpPr/>
          <p:nvPr/>
        </p:nvSpPr>
        <p:spPr>
          <a:xfrm>
            <a:off x="4709160" y="2788920"/>
            <a:ext cx="2743200" cy="2148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23" name="Shape 21"/>
          <p:cNvSpPr/>
          <p:nvPr/>
        </p:nvSpPr>
        <p:spPr>
          <a:xfrm>
            <a:off x="4709160" y="2788920"/>
            <a:ext cx="2743200" cy="347472"/>
          </a:xfrm>
          <a:prstGeom prst="rect">
            <a:avLst/>
          </a:prstGeom>
          <a:solidFill>
            <a:srgbClr val="0D9488"/>
          </a:solidFill>
          <a:ln w="12700">
            <a:solidFill>
              <a:srgbClr val="0D9488"/>
            </a:solidFill>
            <a:prstDash val="solid"/>
          </a:ln>
        </p:spPr>
      </p:sp>
      <p:sp>
        <p:nvSpPr>
          <p:cNvPr id="24" name="Text 22"/>
          <p:cNvSpPr/>
          <p:nvPr/>
        </p:nvSpPr>
        <p:spPr>
          <a:xfrm>
            <a:off x="4800600" y="2825496"/>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 Training &amp; Testing</a:t>
            </a:r>
            <a:endParaRPr lang="en-US" sz="1100" dirty="0"/>
          </a:p>
        </p:txBody>
      </p:sp>
      <p:sp>
        <p:nvSpPr>
          <p:cNvPr id="25" name="Text 23"/>
          <p:cNvSpPr/>
          <p:nvPr/>
        </p:nvSpPr>
        <p:spPr>
          <a:xfrm>
            <a:off x="4800600" y="3209544"/>
            <a:ext cx="2560320" cy="1645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Model is trained on 34 months of historical data (Apr 2018 – Feb 2021) and then used to forecast 10 months ahead (Mar 2021 – Dec 2021) for each sector.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06</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ARIMA Model Explanation</a:t>
            </a:r>
            <a:endParaRPr lang="en-US" sz="2600" dirty="0"/>
          </a:p>
        </p:txBody>
      </p:sp>
      <p:sp>
        <p:nvSpPr>
          <p:cNvPr id="6" name="Shape 4"/>
          <p:cNvSpPr/>
          <p:nvPr/>
        </p:nvSpPr>
        <p:spPr>
          <a:xfrm>
            <a:off x="228600" y="1078992"/>
            <a:ext cx="2743200" cy="1691640"/>
          </a:xfrm>
          <a:prstGeom prst="rect">
            <a:avLst/>
          </a:prstGeom>
          <a:solidFill>
            <a:srgbClr val="1E2761"/>
          </a:solidFill>
          <a:ln w="12700">
            <a:solidFill>
              <a:srgbClr val="1E2761"/>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228600" y="1143000"/>
            <a:ext cx="2743200" cy="64008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AR</a:t>
            </a:r>
            <a:endParaRPr lang="en-US" sz="3600" dirty="0"/>
          </a:p>
        </p:txBody>
      </p:sp>
      <p:sp>
        <p:nvSpPr>
          <p:cNvPr id="8" name="Text 6"/>
          <p:cNvSpPr/>
          <p:nvPr/>
        </p:nvSpPr>
        <p:spPr>
          <a:xfrm>
            <a:off x="228600" y="1783080"/>
            <a:ext cx="274320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(AutoRegressive)  —  parameter p</a:t>
            </a:r>
            <a:endParaRPr lang="en-US" sz="1000" dirty="0"/>
          </a:p>
        </p:txBody>
      </p:sp>
      <p:sp>
        <p:nvSpPr>
          <p:cNvPr id="9" name="Shape 7"/>
          <p:cNvSpPr/>
          <p:nvPr/>
        </p:nvSpPr>
        <p:spPr>
          <a:xfrm>
            <a:off x="228600" y="2852928"/>
            <a:ext cx="2743200" cy="960120"/>
          </a:xfrm>
          <a:prstGeom prst="rect">
            <a:avLst/>
          </a:prstGeom>
          <a:solidFill>
            <a:srgbClr val="FFFFFF"/>
          </a:solidFill>
          <a:ln w="12700">
            <a:solidFill>
              <a:srgbClr val="E2E8F0"/>
            </a:solidFill>
            <a:prstDash val="solid"/>
          </a:ln>
        </p:spPr>
      </p:sp>
      <p:sp>
        <p:nvSpPr>
          <p:cNvPr id="10" name="Text 8"/>
          <p:cNvSpPr/>
          <p:nvPr/>
        </p:nvSpPr>
        <p:spPr>
          <a:xfrm>
            <a:off x="320040" y="2907792"/>
            <a:ext cx="2560320" cy="85039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Uses p lagged values of the series itself as predictors. AR(p) assumes current price depends on the previous p prices. A positive autocorrelation at lag 1 in the ACF plot indicates the need for an AR component.</a:t>
            </a:r>
            <a:endParaRPr lang="en-US" sz="950" dirty="0"/>
          </a:p>
        </p:txBody>
      </p:sp>
      <p:sp>
        <p:nvSpPr>
          <p:cNvPr id="11" name="Shape 9"/>
          <p:cNvSpPr/>
          <p:nvPr/>
        </p:nvSpPr>
        <p:spPr>
          <a:xfrm>
            <a:off x="3200400" y="1078992"/>
            <a:ext cx="2743200" cy="1691640"/>
          </a:xfrm>
          <a:prstGeom prst="rect">
            <a:avLst/>
          </a:prstGeom>
          <a:solidFill>
            <a:srgbClr val="0D9488"/>
          </a:solidFill>
          <a:ln w="12700">
            <a:solidFill>
              <a:srgbClr val="0D9488"/>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0" y="1143000"/>
            <a:ext cx="2743200" cy="64008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I</a:t>
            </a:r>
            <a:endParaRPr lang="en-US" sz="3600" dirty="0"/>
          </a:p>
        </p:txBody>
      </p:sp>
      <p:sp>
        <p:nvSpPr>
          <p:cNvPr id="13" name="Text 11"/>
          <p:cNvSpPr/>
          <p:nvPr/>
        </p:nvSpPr>
        <p:spPr>
          <a:xfrm>
            <a:off x="3200400" y="1783080"/>
            <a:ext cx="274320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(Integrated)  —  parameter d</a:t>
            </a:r>
            <a:endParaRPr lang="en-US" sz="1000" dirty="0"/>
          </a:p>
        </p:txBody>
      </p:sp>
      <p:sp>
        <p:nvSpPr>
          <p:cNvPr id="14" name="Shape 12"/>
          <p:cNvSpPr/>
          <p:nvPr/>
        </p:nvSpPr>
        <p:spPr>
          <a:xfrm>
            <a:off x="3200400" y="2852928"/>
            <a:ext cx="2743200" cy="960120"/>
          </a:xfrm>
          <a:prstGeom prst="rect">
            <a:avLst/>
          </a:prstGeom>
          <a:solidFill>
            <a:srgbClr val="FFFFFF"/>
          </a:solidFill>
          <a:ln w="12700">
            <a:solidFill>
              <a:srgbClr val="E2E8F0"/>
            </a:solidFill>
            <a:prstDash val="solid"/>
          </a:ln>
        </p:spPr>
      </p:sp>
      <p:sp>
        <p:nvSpPr>
          <p:cNvPr id="15" name="Text 13"/>
          <p:cNvSpPr/>
          <p:nvPr/>
        </p:nvSpPr>
        <p:spPr>
          <a:xfrm>
            <a:off x="3291840" y="2907792"/>
            <a:ext cx="2560320" cy="85039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The 'd' parameter indicates the degree of differencing applied to make the time series stationary. Differencing removes trends. In this study, d=1 was applied after log transformation of closing prices.</a:t>
            </a:r>
            <a:endParaRPr lang="en-US" sz="950" dirty="0"/>
          </a:p>
        </p:txBody>
      </p:sp>
      <p:sp>
        <p:nvSpPr>
          <p:cNvPr id="16" name="Shape 14"/>
          <p:cNvSpPr/>
          <p:nvPr/>
        </p:nvSpPr>
        <p:spPr>
          <a:xfrm>
            <a:off x="6172200" y="1078992"/>
            <a:ext cx="2743200" cy="1691640"/>
          </a:xfrm>
          <a:prstGeom prst="rect">
            <a:avLst/>
          </a:prstGeom>
          <a:solidFill>
            <a:srgbClr val="8B5CF6"/>
          </a:solidFill>
          <a:ln w="12700">
            <a:solidFill>
              <a:srgbClr val="8B5CF6"/>
            </a:solidFill>
            <a:prstDash val="solid"/>
          </a:ln>
          <a:effectLst>
            <a:outerShdw sx="100000" sy="100000" kx="0" ky="0" algn="bl" rotWithShape="0" blurRad="76200" dist="38100" dir="8100000">
              <a:srgbClr val="000000">
                <a:alpha val="10000"/>
              </a:srgbClr>
            </a:outerShdw>
          </a:effectLst>
        </p:spPr>
      </p:sp>
      <p:sp>
        <p:nvSpPr>
          <p:cNvPr id="17" name="Text 15"/>
          <p:cNvSpPr/>
          <p:nvPr/>
        </p:nvSpPr>
        <p:spPr>
          <a:xfrm>
            <a:off x="6172200" y="1143000"/>
            <a:ext cx="2743200" cy="64008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MA</a:t>
            </a:r>
            <a:endParaRPr lang="en-US" sz="3600" dirty="0"/>
          </a:p>
        </p:txBody>
      </p:sp>
      <p:sp>
        <p:nvSpPr>
          <p:cNvPr id="18" name="Text 16"/>
          <p:cNvSpPr/>
          <p:nvPr/>
        </p:nvSpPr>
        <p:spPr>
          <a:xfrm>
            <a:off x="6172200" y="1783080"/>
            <a:ext cx="274320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(Moving Average)  —  parameter q</a:t>
            </a:r>
            <a:endParaRPr lang="en-US" sz="1000" dirty="0"/>
          </a:p>
        </p:txBody>
      </p:sp>
      <p:sp>
        <p:nvSpPr>
          <p:cNvPr id="19" name="Shape 17"/>
          <p:cNvSpPr/>
          <p:nvPr/>
        </p:nvSpPr>
        <p:spPr>
          <a:xfrm>
            <a:off x="6172200" y="2852928"/>
            <a:ext cx="2743200" cy="960120"/>
          </a:xfrm>
          <a:prstGeom prst="rect">
            <a:avLst/>
          </a:prstGeom>
          <a:solidFill>
            <a:srgbClr val="FFFFFF"/>
          </a:solidFill>
          <a:ln w="12700">
            <a:solidFill>
              <a:srgbClr val="E2E8F0"/>
            </a:solidFill>
            <a:prstDash val="solid"/>
          </a:ln>
        </p:spPr>
      </p:sp>
      <p:sp>
        <p:nvSpPr>
          <p:cNvPr id="20" name="Text 18"/>
          <p:cNvSpPr/>
          <p:nvPr/>
        </p:nvSpPr>
        <p:spPr>
          <a:xfrm>
            <a:off x="6263640" y="2907792"/>
            <a:ext cx="2560320" cy="85039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Uses q past forecast errors (residuals) as predictors. MA(q) smooths out sudden irregular jumps in the series — analogous to exponential smoothing — representing shock absorption in price movements.</a:t>
            </a:r>
            <a:endParaRPr lang="en-US" sz="950" dirty="0"/>
          </a:p>
        </p:txBody>
      </p:sp>
      <p:sp>
        <p:nvSpPr>
          <p:cNvPr id="21" name="Shape 19"/>
          <p:cNvSpPr/>
          <p:nvPr/>
        </p:nvSpPr>
        <p:spPr>
          <a:xfrm>
            <a:off x="228600" y="3904488"/>
            <a:ext cx="8686800" cy="960120"/>
          </a:xfrm>
          <a:prstGeom prst="rect">
            <a:avLst/>
          </a:prstGeom>
          <a:solidFill>
            <a:srgbClr val="1E2761"/>
          </a:solidFill>
          <a:ln w="12700">
            <a:solidFill>
              <a:srgbClr val="1E2761"/>
            </a:solidFill>
            <a:prstDash val="solid"/>
          </a:ln>
        </p:spPr>
      </p:sp>
      <p:sp>
        <p:nvSpPr>
          <p:cNvPr id="22" name="Text 20"/>
          <p:cNvSpPr/>
          <p:nvPr/>
        </p:nvSpPr>
        <p:spPr>
          <a:xfrm>
            <a:off x="365760" y="3950208"/>
            <a:ext cx="8229600" cy="274320"/>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Model Result: ARIMA(0,1,0) — Random Walk Model</a:t>
            </a:r>
            <a:endParaRPr lang="en-US" sz="1300" dirty="0"/>
          </a:p>
        </p:txBody>
      </p:sp>
      <p:sp>
        <p:nvSpPr>
          <p:cNvPr id="23" name="Text 21"/>
          <p:cNvSpPr/>
          <p:nvPr/>
        </p:nvSpPr>
        <p:spPr>
          <a:xfrm>
            <a:off x="365760" y="4251960"/>
            <a:ext cx="84124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For all three sectors, the best-fitting model determined by minimising AIC, BIC, and HQIC was ARIMA(0,1,0). This indicates that the best predictor of next month's price is the current month's price plus a random error — a statistical result consistent with the Efficient Market Hypothesis.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07</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Results &amp; Analysis</a:t>
            </a:r>
            <a:endParaRPr lang="en-US" sz="2600" dirty="0"/>
          </a:p>
        </p:txBody>
      </p:sp>
      <p:sp>
        <p:nvSpPr>
          <p:cNvPr id="6" name="Shape 4"/>
          <p:cNvSpPr/>
          <p:nvPr/>
        </p:nvSpPr>
        <p:spPr>
          <a:xfrm>
            <a:off x="274320" y="1078992"/>
            <a:ext cx="8595360" cy="111556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274320" y="1078992"/>
            <a:ext cx="73152" cy="1115568"/>
          </a:xfrm>
          <a:prstGeom prst="rect">
            <a:avLst/>
          </a:prstGeom>
          <a:solidFill>
            <a:srgbClr val="0D9488"/>
          </a:solidFill>
          <a:ln w="12700">
            <a:solidFill>
              <a:srgbClr val="0D9488"/>
            </a:solidFill>
            <a:prstDash val="solid"/>
          </a:ln>
        </p:spPr>
      </p:sp>
      <p:sp>
        <p:nvSpPr>
          <p:cNvPr id="8" name="Text 6"/>
          <p:cNvSpPr/>
          <p:nvPr/>
        </p:nvSpPr>
        <p:spPr>
          <a:xfrm>
            <a:off x="457200" y="1143000"/>
            <a:ext cx="2286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FMCG Sector</a:t>
            </a:r>
            <a:endParaRPr lang="en-US" sz="1300" dirty="0"/>
          </a:p>
        </p:txBody>
      </p:sp>
      <p:sp>
        <p:nvSpPr>
          <p:cNvPr id="9" name="Shape 7"/>
          <p:cNvSpPr/>
          <p:nvPr/>
        </p:nvSpPr>
        <p:spPr>
          <a:xfrm>
            <a:off x="457200" y="1426464"/>
            <a:ext cx="1005840" cy="502920"/>
          </a:xfrm>
          <a:prstGeom prst="rect">
            <a:avLst/>
          </a:prstGeom>
          <a:solidFill>
            <a:srgbClr val="F0F4FF"/>
          </a:solidFill>
          <a:ln w="12700">
            <a:solidFill>
              <a:srgbClr val="E2E8F0"/>
            </a:solidFill>
            <a:prstDash val="solid"/>
          </a:ln>
        </p:spPr>
      </p:sp>
      <p:sp>
        <p:nvSpPr>
          <p:cNvPr id="10" name="Text 8"/>
          <p:cNvSpPr/>
          <p:nvPr/>
        </p:nvSpPr>
        <p:spPr>
          <a:xfrm>
            <a:off x="475488" y="1444752"/>
            <a:ext cx="969264"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Mar: ₹34,057</a:t>
            </a:r>
            <a:endParaRPr lang="en-US" sz="850" dirty="0"/>
          </a:p>
        </p:txBody>
      </p:sp>
      <p:sp>
        <p:nvSpPr>
          <p:cNvPr id="11" name="Text 9"/>
          <p:cNvSpPr/>
          <p:nvPr/>
        </p:nvSpPr>
        <p:spPr>
          <a:xfrm>
            <a:off x="475488" y="1664208"/>
            <a:ext cx="969264" cy="201168"/>
          </a:xfrm>
          <a:prstGeom prst="rect">
            <a:avLst/>
          </a:prstGeom>
          <a:noFill/>
          <a:ln/>
        </p:spPr>
        <p:txBody>
          <a:bodyPr wrap="square" lIns="0" tIns="0" rIns="0" bIns="0"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Dec: ₹27,223</a:t>
            </a:r>
            <a:endParaRPr lang="en-US" sz="850" dirty="0"/>
          </a:p>
        </p:txBody>
      </p:sp>
      <p:sp>
        <p:nvSpPr>
          <p:cNvPr id="12" name="Text 10"/>
          <p:cNvSpPr/>
          <p:nvPr/>
        </p:nvSpPr>
        <p:spPr>
          <a:xfrm>
            <a:off x="1600200" y="1143000"/>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Trend: ↑ Mar → then ↓ until May → ↑ until Aug → ↓ to Dec</a:t>
            </a:r>
            <a:endParaRPr lang="en-US" sz="1000" dirty="0"/>
          </a:p>
        </p:txBody>
      </p:sp>
      <p:sp>
        <p:nvSpPr>
          <p:cNvPr id="13" name="Text 11"/>
          <p:cNvSpPr/>
          <p:nvPr/>
        </p:nvSpPr>
        <p:spPr>
          <a:xfrm>
            <a:off x="1600200" y="1444752"/>
            <a:ext cx="7132320" cy="65836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Peak in March, gradual recovery in June–August, year-end decline. Sellers profitable in early Q1; buyers gain towards year-end.</a:t>
            </a:r>
            <a:endParaRPr lang="en-US" sz="1050" dirty="0"/>
          </a:p>
        </p:txBody>
      </p:sp>
      <p:sp>
        <p:nvSpPr>
          <p:cNvPr id="14" name="Shape 12"/>
          <p:cNvSpPr/>
          <p:nvPr/>
        </p:nvSpPr>
        <p:spPr>
          <a:xfrm>
            <a:off x="274320" y="2340864"/>
            <a:ext cx="8595360" cy="111556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5" name="Shape 13"/>
          <p:cNvSpPr/>
          <p:nvPr/>
        </p:nvSpPr>
        <p:spPr>
          <a:xfrm>
            <a:off x="274320" y="2340864"/>
            <a:ext cx="73152" cy="1115568"/>
          </a:xfrm>
          <a:prstGeom prst="rect">
            <a:avLst/>
          </a:prstGeom>
          <a:solidFill>
            <a:srgbClr val="F59E0B"/>
          </a:solidFill>
          <a:ln w="12700">
            <a:solidFill>
              <a:srgbClr val="F59E0B"/>
            </a:solidFill>
            <a:prstDash val="solid"/>
          </a:ln>
        </p:spPr>
      </p:sp>
      <p:sp>
        <p:nvSpPr>
          <p:cNvPr id="16" name="Text 14"/>
          <p:cNvSpPr/>
          <p:nvPr/>
        </p:nvSpPr>
        <p:spPr>
          <a:xfrm>
            <a:off x="457200" y="2404872"/>
            <a:ext cx="2286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Banking Sector</a:t>
            </a:r>
            <a:endParaRPr lang="en-US" sz="1300" dirty="0"/>
          </a:p>
        </p:txBody>
      </p:sp>
      <p:sp>
        <p:nvSpPr>
          <p:cNvPr id="17" name="Shape 15"/>
          <p:cNvSpPr/>
          <p:nvPr/>
        </p:nvSpPr>
        <p:spPr>
          <a:xfrm>
            <a:off x="457200" y="2688336"/>
            <a:ext cx="1005840" cy="502920"/>
          </a:xfrm>
          <a:prstGeom prst="rect">
            <a:avLst/>
          </a:prstGeom>
          <a:solidFill>
            <a:srgbClr val="F0F4FF"/>
          </a:solidFill>
          <a:ln w="12700">
            <a:solidFill>
              <a:srgbClr val="E2E8F0"/>
            </a:solidFill>
            <a:prstDash val="solid"/>
          </a:ln>
        </p:spPr>
      </p:sp>
      <p:sp>
        <p:nvSpPr>
          <p:cNvPr id="18" name="Text 16"/>
          <p:cNvSpPr/>
          <p:nvPr/>
        </p:nvSpPr>
        <p:spPr>
          <a:xfrm>
            <a:off x="475488" y="2706624"/>
            <a:ext cx="969264"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Mar: ₹30,980</a:t>
            </a:r>
            <a:endParaRPr lang="en-US" sz="850" dirty="0"/>
          </a:p>
        </p:txBody>
      </p:sp>
      <p:sp>
        <p:nvSpPr>
          <p:cNvPr id="19" name="Text 17"/>
          <p:cNvSpPr/>
          <p:nvPr/>
        </p:nvSpPr>
        <p:spPr>
          <a:xfrm>
            <a:off x="475488" y="2926080"/>
            <a:ext cx="969264" cy="201168"/>
          </a:xfrm>
          <a:prstGeom prst="rect">
            <a:avLst/>
          </a:prstGeom>
          <a:noFill/>
          <a:ln/>
        </p:spPr>
        <p:txBody>
          <a:bodyPr wrap="square" lIns="0" tIns="0" rIns="0" bIns="0"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Dec: ₹18,970</a:t>
            </a:r>
            <a:endParaRPr lang="en-US" sz="850" dirty="0"/>
          </a:p>
        </p:txBody>
      </p:sp>
      <p:sp>
        <p:nvSpPr>
          <p:cNvPr id="20" name="Text 18"/>
          <p:cNvSpPr/>
          <p:nvPr/>
        </p:nvSpPr>
        <p:spPr>
          <a:xfrm>
            <a:off x="1600200" y="2404872"/>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Trend: ↓ Mar–Jun → slight ↑ Jul → ↓ to Oct → ↑ Nov → ↓ Dec</a:t>
            </a:r>
            <a:endParaRPr lang="en-US" sz="1000" dirty="0"/>
          </a:p>
        </p:txBody>
      </p:sp>
      <p:sp>
        <p:nvSpPr>
          <p:cNvPr id="21" name="Text 19"/>
          <p:cNvSpPr/>
          <p:nvPr/>
        </p:nvSpPr>
        <p:spPr>
          <a:xfrm>
            <a:off x="1600200" y="2706624"/>
            <a:ext cx="7132320" cy="65836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From ₹34,803 in Feb 2021 down to ₹18,970 by December — a sharp overall decline suggesting buyers benefit in the long run.</a:t>
            </a:r>
            <a:endParaRPr lang="en-US" sz="1050" dirty="0"/>
          </a:p>
        </p:txBody>
      </p:sp>
      <p:sp>
        <p:nvSpPr>
          <p:cNvPr id="22" name="Shape 20"/>
          <p:cNvSpPr/>
          <p:nvPr/>
        </p:nvSpPr>
        <p:spPr>
          <a:xfrm>
            <a:off x="274320" y="3602736"/>
            <a:ext cx="8595360" cy="111556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3" name="Shape 21"/>
          <p:cNvSpPr/>
          <p:nvPr/>
        </p:nvSpPr>
        <p:spPr>
          <a:xfrm>
            <a:off x="274320" y="3602736"/>
            <a:ext cx="73152" cy="1115568"/>
          </a:xfrm>
          <a:prstGeom prst="rect">
            <a:avLst/>
          </a:prstGeom>
          <a:solidFill>
            <a:srgbClr val="8B5CF6"/>
          </a:solidFill>
          <a:ln w="12700">
            <a:solidFill>
              <a:srgbClr val="8B5CF6"/>
            </a:solidFill>
            <a:prstDash val="solid"/>
          </a:ln>
        </p:spPr>
      </p:sp>
      <p:sp>
        <p:nvSpPr>
          <p:cNvPr id="24" name="Text 22"/>
          <p:cNvSpPr/>
          <p:nvPr/>
        </p:nvSpPr>
        <p:spPr>
          <a:xfrm>
            <a:off x="457200" y="3666744"/>
            <a:ext cx="2286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Pharma Sector</a:t>
            </a:r>
            <a:endParaRPr lang="en-US" sz="1300" dirty="0"/>
          </a:p>
        </p:txBody>
      </p:sp>
      <p:sp>
        <p:nvSpPr>
          <p:cNvPr id="25" name="Shape 23"/>
          <p:cNvSpPr/>
          <p:nvPr/>
        </p:nvSpPr>
        <p:spPr>
          <a:xfrm>
            <a:off x="457200" y="3950208"/>
            <a:ext cx="1005840" cy="502920"/>
          </a:xfrm>
          <a:prstGeom prst="rect">
            <a:avLst/>
          </a:prstGeom>
          <a:solidFill>
            <a:srgbClr val="F0F4FF"/>
          </a:solidFill>
          <a:ln w="12700">
            <a:solidFill>
              <a:srgbClr val="E2E8F0"/>
            </a:solidFill>
            <a:prstDash val="solid"/>
          </a:ln>
        </p:spPr>
      </p:sp>
      <p:sp>
        <p:nvSpPr>
          <p:cNvPr id="26" name="Text 24"/>
          <p:cNvSpPr/>
          <p:nvPr/>
        </p:nvSpPr>
        <p:spPr>
          <a:xfrm>
            <a:off x="475488" y="3968496"/>
            <a:ext cx="969264"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Mar: ₹12,812</a:t>
            </a:r>
            <a:endParaRPr lang="en-US" sz="850" dirty="0"/>
          </a:p>
        </p:txBody>
      </p:sp>
      <p:sp>
        <p:nvSpPr>
          <p:cNvPr id="27" name="Text 25"/>
          <p:cNvSpPr/>
          <p:nvPr/>
        </p:nvSpPr>
        <p:spPr>
          <a:xfrm>
            <a:off x="475488" y="4187952"/>
            <a:ext cx="969264" cy="201168"/>
          </a:xfrm>
          <a:prstGeom prst="rect">
            <a:avLst/>
          </a:prstGeom>
          <a:noFill/>
          <a:ln/>
        </p:spPr>
        <p:txBody>
          <a:bodyPr wrap="square" lIns="0" tIns="0" rIns="0" bIns="0"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Dec: ₹7,119</a:t>
            </a:r>
            <a:endParaRPr lang="en-US" sz="850" dirty="0"/>
          </a:p>
        </p:txBody>
      </p:sp>
      <p:sp>
        <p:nvSpPr>
          <p:cNvPr id="28" name="Text 26"/>
          <p:cNvSpPr/>
          <p:nvPr/>
        </p:nvSpPr>
        <p:spPr>
          <a:xfrm>
            <a:off x="1600200" y="3666744"/>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Trend: ↑ Mar → ↓ Apr–May → slight ↑ Jun → ↓ thereafter</a:t>
            </a:r>
            <a:endParaRPr lang="en-US" sz="1000" dirty="0"/>
          </a:p>
        </p:txBody>
      </p:sp>
      <p:sp>
        <p:nvSpPr>
          <p:cNvPr id="29" name="Text 27"/>
          <p:cNvSpPr/>
          <p:nvPr/>
        </p:nvSpPr>
        <p:spPr>
          <a:xfrm>
            <a:off x="1600200" y="3968496"/>
            <a:ext cx="7132320" cy="65836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From ₹11,927 in Feb 2021, Pharma peaks in March before a prolonged decline. Bearish outlook for sellers beyond March.</a:t>
            </a:r>
            <a:endParaRPr lang="en-US" sz="1050" dirty="0"/>
          </a:p>
        </p:txBody>
      </p:sp>
      <p:sp>
        <p:nvSpPr>
          <p:cNvPr id="30" name="Shape 28"/>
          <p:cNvSpPr/>
          <p:nvPr/>
        </p:nvSpPr>
        <p:spPr>
          <a:xfrm>
            <a:off x="274320" y="4663440"/>
            <a:ext cx="8595360" cy="274320"/>
          </a:xfrm>
          <a:prstGeom prst="rect">
            <a:avLst/>
          </a:prstGeom>
          <a:solidFill>
            <a:srgbClr val="1E2761"/>
          </a:solidFill>
          <a:ln w="12700">
            <a:solidFill>
              <a:srgbClr val="1E2761"/>
            </a:solidFill>
            <a:prstDash val="solid"/>
          </a:ln>
        </p:spPr>
      </p:sp>
      <p:sp>
        <p:nvSpPr>
          <p:cNvPr id="31" name="Text 29"/>
          <p:cNvSpPr/>
          <p:nvPr/>
        </p:nvSpPr>
        <p:spPr>
          <a:xfrm>
            <a:off x="365760" y="4663440"/>
            <a:ext cx="8412480" cy="274320"/>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All three sectors fitted ARIMA(0,1,0) | CSS Method | 34 observations | AIC evaluated for model selection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08</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Advantages of ARIMA</a:t>
            </a:r>
            <a:endParaRPr lang="en-US" sz="2600" dirty="0"/>
          </a:p>
        </p:txBody>
      </p:sp>
      <p:sp>
        <p:nvSpPr>
          <p:cNvPr id="6" name="Shape 4"/>
          <p:cNvSpPr/>
          <p:nvPr/>
        </p:nvSpPr>
        <p:spPr>
          <a:xfrm>
            <a:off x="274320" y="1078992"/>
            <a:ext cx="41605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384048" y="1188720"/>
            <a:ext cx="347472" cy="347472"/>
          </a:xfrm>
          <a:prstGeom prst="ellipse">
            <a:avLst/>
          </a:prstGeom>
          <a:solidFill>
            <a:srgbClr val="0D9488"/>
          </a:solidFill>
          <a:ln w="12700">
            <a:solidFill>
              <a:srgbClr val="0D9488"/>
            </a:solidFill>
            <a:prstDash val="solid"/>
          </a:ln>
        </p:spPr>
      </p:sp>
      <p:sp>
        <p:nvSpPr>
          <p:cNvPr id="8" name="Text 6"/>
          <p:cNvSpPr/>
          <p:nvPr/>
        </p:nvSpPr>
        <p:spPr>
          <a:xfrm>
            <a:off x="384048" y="118872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841248" y="1170432"/>
            <a:ext cx="3474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Implementation Simplicity</a:t>
            </a:r>
            <a:endParaRPr lang="en-US" sz="1150" dirty="0"/>
          </a:p>
        </p:txBody>
      </p:sp>
      <p:sp>
        <p:nvSpPr>
          <p:cNvPr id="10" name="Text 8"/>
          <p:cNvSpPr/>
          <p:nvPr/>
        </p:nvSpPr>
        <p:spPr>
          <a:xfrm>
            <a:off x="384048" y="1508760"/>
            <a:ext cx="3913632" cy="694944"/>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can be implemented with widely available statistical libraries such as Python's statsmodels or R's forecast package. The model pipeline — from stationarity testing to parameter selection to forecasting — is well-documented and reproducible.</a:t>
            </a:r>
            <a:endParaRPr lang="en-US" sz="950" dirty="0"/>
          </a:p>
        </p:txBody>
      </p:sp>
      <p:sp>
        <p:nvSpPr>
          <p:cNvPr id="11" name="Shape 9"/>
          <p:cNvSpPr/>
          <p:nvPr/>
        </p:nvSpPr>
        <p:spPr>
          <a:xfrm>
            <a:off x="4754880" y="1078992"/>
            <a:ext cx="41605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2" name="Shape 10"/>
          <p:cNvSpPr/>
          <p:nvPr/>
        </p:nvSpPr>
        <p:spPr>
          <a:xfrm>
            <a:off x="4864608" y="1188720"/>
            <a:ext cx="347472" cy="347472"/>
          </a:xfrm>
          <a:prstGeom prst="ellipse">
            <a:avLst/>
          </a:prstGeom>
          <a:solidFill>
            <a:srgbClr val="0D9488"/>
          </a:solidFill>
          <a:ln w="12700">
            <a:solidFill>
              <a:srgbClr val="0D9488"/>
            </a:solidFill>
            <a:prstDash val="solid"/>
          </a:ln>
        </p:spPr>
      </p:sp>
      <p:sp>
        <p:nvSpPr>
          <p:cNvPr id="13" name="Text 11"/>
          <p:cNvSpPr/>
          <p:nvPr/>
        </p:nvSpPr>
        <p:spPr>
          <a:xfrm>
            <a:off x="4864608" y="118872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5321808" y="1170432"/>
            <a:ext cx="3474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Historical Trend Exploitation</a:t>
            </a:r>
            <a:endParaRPr lang="en-US" sz="1150" dirty="0"/>
          </a:p>
        </p:txBody>
      </p:sp>
      <p:sp>
        <p:nvSpPr>
          <p:cNvPr id="15" name="Text 13"/>
          <p:cNvSpPr/>
          <p:nvPr/>
        </p:nvSpPr>
        <p:spPr>
          <a:xfrm>
            <a:off x="4864608" y="1508760"/>
            <a:ext cx="3913632" cy="694944"/>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excels at capturing autocorrelation structures embedded in historical price sequences. By leveraging past observations, it can effectively model persistent trends and mean-reverting behaviours in financial time series.</a:t>
            </a:r>
            <a:endParaRPr lang="en-US" sz="950" dirty="0"/>
          </a:p>
        </p:txBody>
      </p:sp>
      <p:sp>
        <p:nvSpPr>
          <p:cNvPr id="16" name="Shape 14"/>
          <p:cNvSpPr/>
          <p:nvPr/>
        </p:nvSpPr>
        <p:spPr>
          <a:xfrm>
            <a:off x="274320" y="2404872"/>
            <a:ext cx="41605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7" name="Shape 15"/>
          <p:cNvSpPr/>
          <p:nvPr/>
        </p:nvSpPr>
        <p:spPr>
          <a:xfrm>
            <a:off x="384048" y="2514600"/>
            <a:ext cx="347472" cy="347472"/>
          </a:xfrm>
          <a:prstGeom prst="ellipse">
            <a:avLst/>
          </a:prstGeom>
          <a:solidFill>
            <a:srgbClr val="0D9488"/>
          </a:solidFill>
          <a:ln w="12700">
            <a:solidFill>
              <a:srgbClr val="0D9488"/>
            </a:solidFill>
            <a:prstDash val="solid"/>
          </a:ln>
        </p:spPr>
      </p:sp>
      <p:sp>
        <p:nvSpPr>
          <p:cNvPr id="18" name="Text 16"/>
          <p:cNvSpPr/>
          <p:nvPr/>
        </p:nvSpPr>
        <p:spPr>
          <a:xfrm>
            <a:off x="384048" y="251460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841248" y="2496312"/>
            <a:ext cx="3474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Univariate Time Series Suitability</a:t>
            </a:r>
            <a:endParaRPr lang="en-US" sz="1150" dirty="0"/>
          </a:p>
        </p:txBody>
      </p:sp>
      <p:sp>
        <p:nvSpPr>
          <p:cNvPr id="20" name="Text 18"/>
          <p:cNvSpPr/>
          <p:nvPr/>
        </p:nvSpPr>
        <p:spPr>
          <a:xfrm>
            <a:off x="384048" y="2834640"/>
            <a:ext cx="3913632" cy="694944"/>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requires only a single price series as input — no need for external predictor variables. This makes it especially useful in data-scarce environments where only historical closing prices are available.</a:t>
            </a:r>
            <a:endParaRPr lang="en-US" sz="950" dirty="0"/>
          </a:p>
        </p:txBody>
      </p:sp>
      <p:sp>
        <p:nvSpPr>
          <p:cNvPr id="21" name="Shape 19"/>
          <p:cNvSpPr/>
          <p:nvPr/>
        </p:nvSpPr>
        <p:spPr>
          <a:xfrm>
            <a:off x="4754880" y="2404872"/>
            <a:ext cx="41605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2" name="Shape 20"/>
          <p:cNvSpPr/>
          <p:nvPr/>
        </p:nvSpPr>
        <p:spPr>
          <a:xfrm>
            <a:off x="4864608" y="2514600"/>
            <a:ext cx="347472" cy="347472"/>
          </a:xfrm>
          <a:prstGeom prst="ellipse">
            <a:avLst/>
          </a:prstGeom>
          <a:solidFill>
            <a:srgbClr val="0D9488"/>
          </a:solidFill>
          <a:ln w="12700">
            <a:solidFill>
              <a:srgbClr val="0D9488"/>
            </a:solidFill>
            <a:prstDash val="solid"/>
          </a:ln>
        </p:spPr>
      </p:sp>
      <p:sp>
        <p:nvSpPr>
          <p:cNvPr id="23" name="Text 21"/>
          <p:cNvSpPr/>
          <p:nvPr/>
        </p:nvSpPr>
        <p:spPr>
          <a:xfrm>
            <a:off x="4864608" y="251460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321808" y="2496312"/>
            <a:ext cx="3474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No External Data Required</a:t>
            </a:r>
            <a:endParaRPr lang="en-US" sz="1150" dirty="0"/>
          </a:p>
        </p:txBody>
      </p:sp>
      <p:sp>
        <p:nvSpPr>
          <p:cNvPr id="25" name="Text 23"/>
          <p:cNvSpPr/>
          <p:nvPr/>
        </p:nvSpPr>
        <p:spPr>
          <a:xfrm>
            <a:off x="4864608" y="2834640"/>
            <a:ext cx="3913632" cy="694944"/>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Unlike regression-based models that require macroeconomic or sentiment indicators, ARIMA operates entirely on the endogenous history of a price series — making it robust against missing exogenous data.</a:t>
            </a:r>
            <a:endParaRPr lang="en-US" sz="950" dirty="0"/>
          </a:p>
        </p:txBody>
      </p:sp>
      <p:sp>
        <p:nvSpPr>
          <p:cNvPr id="26" name="Shape 24"/>
          <p:cNvSpPr/>
          <p:nvPr/>
        </p:nvSpPr>
        <p:spPr>
          <a:xfrm>
            <a:off x="274320" y="3730752"/>
            <a:ext cx="41605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7" name="Shape 25"/>
          <p:cNvSpPr/>
          <p:nvPr/>
        </p:nvSpPr>
        <p:spPr>
          <a:xfrm>
            <a:off x="384048" y="3840480"/>
            <a:ext cx="347472" cy="347472"/>
          </a:xfrm>
          <a:prstGeom prst="ellipse">
            <a:avLst/>
          </a:prstGeom>
          <a:solidFill>
            <a:srgbClr val="0D9488"/>
          </a:solidFill>
          <a:ln w="12700">
            <a:solidFill>
              <a:srgbClr val="0D9488"/>
            </a:solidFill>
            <a:prstDash val="solid"/>
          </a:ln>
        </p:spPr>
      </p:sp>
      <p:sp>
        <p:nvSpPr>
          <p:cNvPr id="28" name="Text 26"/>
          <p:cNvSpPr/>
          <p:nvPr/>
        </p:nvSpPr>
        <p:spPr>
          <a:xfrm>
            <a:off x="384048" y="384048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841248" y="3822192"/>
            <a:ext cx="3474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Short-Run Forecast Accuracy</a:t>
            </a:r>
            <a:endParaRPr lang="en-US" sz="1150" dirty="0"/>
          </a:p>
        </p:txBody>
      </p:sp>
      <p:sp>
        <p:nvSpPr>
          <p:cNvPr id="30" name="Text 28"/>
          <p:cNvSpPr/>
          <p:nvPr/>
        </p:nvSpPr>
        <p:spPr>
          <a:xfrm>
            <a:off x="384048" y="4160520"/>
            <a:ext cx="3913632" cy="694944"/>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is particularly effective at generating reliable short-horizon forecasts (weeks to months). Studies consistently demonstrate that ARIMA outperforms many complex AI techniques in short-run financial prediction tasks.</a:t>
            </a:r>
            <a:endParaRPr lang="en-US" sz="950" dirty="0"/>
          </a:p>
        </p:txBody>
      </p:sp>
      <p:sp>
        <p:nvSpPr>
          <p:cNvPr id="31" name="Shape 29"/>
          <p:cNvSpPr/>
          <p:nvPr/>
        </p:nvSpPr>
        <p:spPr>
          <a:xfrm>
            <a:off x="4754880" y="3730752"/>
            <a:ext cx="4160520" cy="11887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32" name="Shape 30"/>
          <p:cNvSpPr/>
          <p:nvPr/>
        </p:nvSpPr>
        <p:spPr>
          <a:xfrm>
            <a:off x="4864608" y="3840480"/>
            <a:ext cx="347472" cy="347472"/>
          </a:xfrm>
          <a:prstGeom prst="ellipse">
            <a:avLst/>
          </a:prstGeom>
          <a:solidFill>
            <a:srgbClr val="0D9488"/>
          </a:solidFill>
          <a:ln w="12700">
            <a:solidFill>
              <a:srgbClr val="0D9488"/>
            </a:solidFill>
            <a:prstDash val="solid"/>
          </a:ln>
        </p:spPr>
      </p:sp>
      <p:sp>
        <p:nvSpPr>
          <p:cNvPr id="33" name="Text 31"/>
          <p:cNvSpPr/>
          <p:nvPr/>
        </p:nvSpPr>
        <p:spPr>
          <a:xfrm>
            <a:off x="4864608" y="384048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4" name="Text 32"/>
          <p:cNvSpPr/>
          <p:nvPr/>
        </p:nvSpPr>
        <p:spPr>
          <a:xfrm>
            <a:off x="5321808" y="3822192"/>
            <a:ext cx="3474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Interpretable Parameters</a:t>
            </a:r>
            <a:endParaRPr lang="en-US" sz="1150" dirty="0"/>
          </a:p>
        </p:txBody>
      </p:sp>
      <p:sp>
        <p:nvSpPr>
          <p:cNvPr id="35" name="Text 33"/>
          <p:cNvSpPr/>
          <p:nvPr/>
        </p:nvSpPr>
        <p:spPr>
          <a:xfrm>
            <a:off x="4864608" y="4160520"/>
            <a:ext cx="3913632" cy="694944"/>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Unlike neural networks or ensemble methods, ARIMA's (p,d,q) parameters carry direct statistical meaning — AR order, degree of integration, and MA order — facilitating theoretical justification of model structure.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EF4444"/>
          </a:solidFill>
          <a:ln w="12700">
            <a:solidFill>
              <a:srgbClr val="EF4444"/>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EF4444"/>
                </a:solidFill>
                <a:latin typeface="Calibri" pitchFamily="34" charset="0"/>
                <a:ea typeface="Calibri" pitchFamily="34" charset="-122"/>
                <a:cs typeface="Calibri" pitchFamily="34" charset="-120"/>
              </a:rPr>
              <a:t>09</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Limitations of ARIMA</a:t>
            </a:r>
            <a:endParaRPr lang="en-US" sz="2600" dirty="0"/>
          </a:p>
        </p:txBody>
      </p:sp>
      <p:sp>
        <p:nvSpPr>
          <p:cNvPr id="6" name="Shape 4"/>
          <p:cNvSpPr/>
          <p:nvPr/>
        </p:nvSpPr>
        <p:spPr>
          <a:xfrm>
            <a:off x="274320" y="1097280"/>
            <a:ext cx="4160520" cy="166420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274320" y="1097280"/>
            <a:ext cx="4160520" cy="45720"/>
          </a:xfrm>
          <a:prstGeom prst="rect">
            <a:avLst/>
          </a:prstGeom>
          <a:solidFill>
            <a:srgbClr val="EF4444"/>
          </a:solidFill>
          <a:ln w="12700">
            <a:solidFill>
              <a:srgbClr val="EF4444"/>
            </a:solidFill>
            <a:prstDash val="solid"/>
          </a:ln>
        </p:spPr>
      </p:sp>
      <p:sp>
        <p:nvSpPr>
          <p:cNvPr id="8" name="Shape 6"/>
          <p:cNvSpPr/>
          <p:nvPr/>
        </p:nvSpPr>
        <p:spPr>
          <a:xfrm>
            <a:off x="384048" y="1243584"/>
            <a:ext cx="347472" cy="347472"/>
          </a:xfrm>
          <a:prstGeom prst="ellipse">
            <a:avLst/>
          </a:prstGeom>
          <a:solidFill>
            <a:srgbClr val="EF4444"/>
          </a:solidFill>
          <a:ln w="12700">
            <a:solidFill>
              <a:srgbClr val="EF4444"/>
            </a:solidFill>
            <a:prstDash val="solid"/>
          </a:ln>
        </p:spPr>
      </p:sp>
      <p:sp>
        <p:nvSpPr>
          <p:cNvPr id="9" name="Text 7"/>
          <p:cNvSpPr/>
          <p:nvPr/>
        </p:nvSpPr>
        <p:spPr>
          <a:xfrm>
            <a:off x="384048" y="12435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841248" y="1234440"/>
            <a:ext cx="347472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Linearity Assumption</a:t>
            </a:r>
            <a:endParaRPr lang="en-US" sz="1200" dirty="0"/>
          </a:p>
        </p:txBody>
      </p:sp>
      <p:sp>
        <p:nvSpPr>
          <p:cNvPr id="11" name="Text 9"/>
          <p:cNvSpPr/>
          <p:nvPr/>
        </p:nvSpPr>
        <p:spPr>
          <a:xfrm>
            <a:off x="384048" y="1572768"/>
            <a:ext cx="3913632" cy="10972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assumes linear relationships between past and future values. Financial markets exhibit non-linear dynamics — leverage effects, volatility clustering, regime shifts — that ARIMA cannot capture, often leading to underfit in complex market environments.</a:t>
            </a:r>
            <a:endParaRPr lang="en-US" sz="950" dirty="0"/>
          </a:p>
        </p:txBody>
      </p:sp>
      <p:sp>
        <p:nvSpPr>
          <p:cNvPr id="12" name="Shape 10"/>
          <p:cNvSpPr/>
          <p:nvPr/>
        </p:nvSpPr>
        <p:spPr>
          <a:xfrm>
            <a:off x="4754880" y="1097280"/>
            <a:ext cx="4160520" cy="166420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3" name="Shape 11"/>
          <p:cNvSpPr/>
          <p:nvPr/>
        </p:nvSpPr>
        <p:spPr>
          <a:xfrm>
            <a:off x="4754880" y="1097280"/>
            <a:ext cx="4160520" cy="45720"/>
          </a:xfrm>
          <a:prstGeom prst="rect">
            <a:avLst/>
          </a:prstGeom>
          <a:solidFill>
            <a:srgbClr val="EF4444"/>
          </a:solidFill>
          <a:ln w="12700">
            <a:solidFill>
              <a:srgbClr val="EF4444"/>
            </a:solidFill>
            <a:prstDash val="solid"/>
          </a:ln>
        </p:spPr>
      </p:sp>
      <p:sp>
        <p:nvSpPr>
          <p:cNvPr id="14" name="Shape 12"/>
          <p:cNvSpPr/>
          <p:nvPr/>
        </p:nvSpPr>
        <p:spPr>
          <a:xfrm>
            <a:off x="4864608" y="1243584"/>
            <a:ext cx="347472" cy="347472"/>
          </a:xfrm>
          <a:prstGeom prst="ellipse">
            <a:avLst/>
          </a:prstGeom>
          <a:solidFill>
            <a:srgbClr val="EF4444"/>
          </a:solidFill>
          <a:ln w="12700">
            <a:solidFill>
              <a:srgbClr val="EF4444"/>
            </a:solidFill>
            <a:prstDash val="solid"/>
          </a:ln>
        </p:spPr>
      </p:sp>
      <p:sp>
        <p:nvSpPr>
          <p:cNvPr id="15" name="Text 13"/>
          <p:cNvSpPr/>
          <p:nvPr/>
        </p:nvSpPr>
        <p:spPr>
          <a:xfrm>
            <a:off x="4864608" y="12435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5321808" y="1234440"/>
            <a:ext cx="347472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Cannot Capture Sudden Fluctuations</a:t>
            </a:r>
            <a:endParaRPr lang="en-US" sz="1200" dirty="0"/>
          </a:p>
        </p:txBody>
      </p:sp>
      <p:sp>
        <p:nvSpPr>
          <p:cNvPr id="17" name="Text 15"/>
          <p:cNvSpPr/>
          <p:nvPr/>
        </p:nvSpPr>
        <p:spPr>
          <a:xfrm>
            <a:off x="4864608" y="1572768"/>
            <a:ext cx="3913632" cy="10972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is fundamentally a smoothing technique. Abrupt structural breaks caused by market crashes, geopolitical shocks, or regulatory announcements fall outside the model's ability to anticipate or reflect accurately.</a:t>
            </a:r>
            <a:endParaRPr lang="en-US" sz="950" dirty="0"/>
          </a:p>
        </p:txBody>
      </p:sp>
      <p:sp>
        <p:nvSpPr>
          <p:cNvPr id="18" name="Shape 16"/>
          <p:cNvSpPr/>
          <p:nvPr/>
        </p:nvSpPr>
        <p:spPr>
          <a:xfrm>
            <a:off x="274320" y="2926080"/>
            <a:ext cx="4160520" cy="166420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9" name="Shape 17"/>
          <p:cNvSpPr/>
          <p:nvPr/>
        </p:nvSpPr>
        <p:spPr>
          <a:xfrm>
            <a:off x="274320" y="2926080"/>
            <a:ext cx="4160520" cy="45720"/>
          </a:xfrm>
          <a:prstGeom prst="rect">
            <a:avLst/>
          </a:prstGeom>
          <a:solidFill>
            <a:srgbClr val="EF4444"/>
          </a:solidFill>
          <a:ln w="12700">
            <a:solidFill>
              <a:srgbClr val="EF4444"/>
            </a:solidFill>
            <a:prstDash val="solid"/>
          </a:ln>
        </p:spPr>
      </p:sp>
      <p:sp>
        <p:nvSpPr>
          <p:cNvPr id="20" name="Shape 18"/>
          <p:cNvSpPr/>
          <p:nvPr/>
        </p:nvSpPr>
        <p:spPr>
          <a:xfrm>
            <a:off x="384048" y="3072384"/>
            <a:ext cx="347472" cy="347472"/>
          </a:xfrm>
          <a:prstGeom prst="ellipse">
            <a:avLst/>
          </a:prstGeom>
          <a:solidFill>
            <a:srgbClr val="EF4444"/>
          </a:solidFill>
          <a:ln w="12700">
            <a:solidFill>
              <a:srgbClr val="EF4444"/>
            </a:solidFill>
            <a:prstDash val="solid"/>
          </a:ln>
        </p:spPr>
      </p:sp>
      <p:sp>
        <p:nvSpPr>
          <p:cNvPr id="21" name="Text 19"/>
          <p:cNvSpPr/>
          <p:nvPr/>
        </p:nvSpPr>
        <p:spPr>
          <a:xfrm>
            <a:off x="384048" y="3072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841248" y="3063240"/>
            <a:ext cx="347472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Ignores External Factors</a:t>
            </a:r>
            <a:endParaRPr lang="en-US" sz="1200" dirty="0"/>
          </a:p>
        </p:txBody>
      </p:sp>
      <p:sp>
        <p:nvSpPr>
          <p:cNvPr id="23" name="Text 21"/>
          <p:cNvSpPr/>
          <p:nvPr/>
        </p:nvSpPr>
        <p:spPr>
          <a:xfrm>
            <a:off x="384048" y="3401568"/>
            <a:ext cx="3913632" cy="10972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ARIMA is a purely endogenous model — it considers only past prices. Critical external drivers such as macroeconomic news, earnings announcements, investor sentiment indices, central bank policy changes, and global events are entirely excluded.</a:t>
            </a:r>
            <a:endParaRPr lang="en-US" sz="950" dirty="0"/>
          </a:p>
        </p:txBody>
      </p:sp>
      <p:sp>
        <p:nvSpPr>
          <p:cNvPr id="24" name="Shape 22"/>
          <p:cNvSpPr/>
          <p:nvPr/>
        </p:nvSpPr>
        <p:spPr>
          <a:xfrm>
            <a:off x="4754880" y="2926080"/>
            <a:ext cx="4160520" cy="1664208"/>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5" name="Shape 23"/>
          <p:cNvSpPr/>
          <p:nvPr/>
        </p:nvSpPr>
        <p:spPr>
          <a:xfrm>
            <a:off x="4754880" y="2926080"/>
            <a:ext cx="4160520" cy="45720"/>
          </a:xfrm>
          <a:prstGeom prst="rect">
            <a:avLst/>
          </a:prstGeom>
          <a:solidFill>
            <a:srgbClr val="EF4444"/>
          </a:solidFill>
          <a:ln w="12700">
            <a:solidFill>
              <a:srgbClr val="EF4444"/>
            </a:solidFill>
            <a:prstDash val="solid"/>
          </a:ln>
        </p:spPr>
      </p:sp>
      <p:sp>
        <p:nvSpPr>
          <p:cNvPr id="26" name="Shape 24"/>
          <p:cNvSpPr/>
          <p:nvPr/>
        </p:nvSpPr>
        <p:spPr>
          <a:xfrm>
            <a:off x="4864608" y="3072384"/>
            <a:ext cx="347472" cy="347472"/>
          </a:xfrm>
          <a:prstGeom prst="ellipse">
            <a:avLst/>
          </a:prstGeom>
          <a:solidFill>
            <a:srgbClr val="EF4444"/>
          </a:solidFill>
          <a:ln w="12700">
            <a:solidFill>
              <a:srgbClr val="EF4444"/>
            </a:solidFill>
            <a:prstDash val="solid"/>
          </a:ln>
        </p:spPr>
      </p:sp>
      <p:sp>
        <p:nvSpPr>
          <p:cNvPr id="27" name="Text 25"/>
          <p:cNvSpPr/>
          <p:nvPr/>
        </p:nvSpPr>
        <p:spPr>
          <a:xfrm>
            <a:off x="4864608" y="3072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5321808" y="3063240"/>
            <a:ext cx="347472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Performance in Volatile Markets</a:t>
            </a:r>
            <a:endParaRPr lang="en-US" sz="1200" dirty="0"/>
          </a:p>
        </p:txBody>
      </p:sp>
      <p:sp>
        <p:nvSpPr>
          <p:cNvPr id="29" name="Text 27"/>
          <p:cNvSpPr/>
          <p:nvPr/>
        </p:nvSpPr>
        <p:spPr>
          <a:xfrm>
            <a:off x="4864608" y="3401568"/>
            <a:ext cx="3913632" cy="10972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During high-volatility regimes (e.g., COVID-19 market crash of 2020), ARIMA's assumption of constant variance breaks down. GARCH-family models or volatility-augmented hybrid approaches are required in such periods.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11</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6" name="Shape 4"/>
          <p:cNvSpPr/>
          <p:nvPr/>
        </p:nvSpPr>
        <p:spPr>
          <a:xfrm>
            <a:off x="274320" y="1078992"/>
            <a:ext cx="8595360" cy="86868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7" name="Shape 5"/>
          <p:cNvSpPr/>
          <p:nvPr/>
        </p:nvSpPr>
        <p:spPr>
          <a:xfrm>
            <a:off x="274320" y="1078992"/>
            <a:ext cx="64008" cy="868680"/>
          </a:xfrm>
          <a:prstGeom prst="rect">
            <a:avLst/>
          </a:prstGeom>
          <a:solidFill>
            <a:srgbClr val="0D9488"/>
          </a:solidFill>
          <a:ln w="12700">
            <a:solidFill>
              <a:srgbClr val="0D9488"/>
            </a:solidFill>
            <a:prstDash val="solid"/>
          </a:ln>
        </p:spPr>
      </p:sp>
      <p:sp>
        <p:nvSpPr>
          <p:cNvPr id="8" name="Text 6"/>
          <p:cNvSpPr/>
          <p:nvPr/>
        </p:nvSpPr>
        <p:spPr>
          <a:xfrm>
            <a:off x="457200" y="1133856"/>
            <a:ext cx="274320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Study Summary</a:t>
            </a:r>
            <a:endParaRPr lang="en-US" sz="1150" dirty="0"/>
          </a:p>
        </p:txBody>
      </p:sp>
      <p:sp>
        <p:nvSpPr>
          <p:cNvPr id="9" name="Text 7"/>
          <p:cNvSpPr/>
          <p:nvPr/>
        </p:nvSpPr>
        <p:spPr>
          <a:xfrm>
            <a:off x="457200" y="1408176"/>
            <a:ext cx="827532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This case study applied the ARIMA model to three years of monthly NSE data across FMCG, Banking, and Pharmaceutical sectors. All three sectors were best represented by ARIMA(0,1,0) — a Random Walk process — suggesting that short-term price changes are largely unpredictable from past patterns alone.</a:t>
            </a:r>
            <a:endParaRPr lang="en-US" sz="1000" dirty="0"/>
          </a:p>
        </p:txBody>
      </p:sp>
      <p:sp>
        <p:nvSpPr>
          <p:cNvPr id="10" name="Shape 8"/>
          <p:cNvSpPr/>
          <p:nvPr/>
        </p:nvSpPr>
        <p:spPr>
          <a:xfrm>
            <a:off x="274320" y="2057400"/>
            <a:ext cx="8595360" cy="86868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11" name="Shape 9"/>
          <p:cNvSpPr/>
          <p:nvPr/>
        </p:nvSpPr>
        <p:spPr>
          <a:xfrm>
            <a:off x="274320" y="2057400"/>
            <a:ext cx="64008" cy="868680"/>
          </a:xfrm>
          <a:prstGeom prst="rect">
            <a:avLst/>
          </a:prstGeom>
          <a:solidFill>
            <a:srgbClr val="0D9488"/>
          </a:solidFill>
          <a:ln w="12700">
            <a:solidFill>
              <a:srgbClr val="0D9488"/>
            </a:solidFill>
            <a:prstDash val="solid"/>
          </a:ln>
        </p:spPr>
      </p:sp>
      <p:sp>
        <p:nvSpPr>
          <p:cNvPr id="12" name="Text 10"/>
          <p:cNvSpPr/>
          <p:nvPr/>
        </p:nvSpPr>
        <p:spPr>
          <a:xfrm>
            <a:off x="457200" y="2112264"/>
            <a:ext cx="274320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Investment Implications</a:t>
            </a:r>
            <a:endParaRPr lang="en-US" sz="1150" dirty="0"/>
          </a:p>
        </p:txBody>
      </p:sp>
      <p:sp>
        <p:nvSpPr>
          <p:cNvPr id="13" name="Text 11"/>
          <p:cNvSpPr/>
          <p:nvPr/>
        </p:nvSpPr>
        <p:spPr>
          <a:xfrm>
            <a:off x="457200" y="2386584"/>
            <a:ext cx="827532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FMCG and Pharma sectors were predicted to rise in March 2021, indicating early profit opportunities for sellers. After March, all three sectors trended downward, favouring buyers. Temporary recoveries in July–August offered short-term re-entry windows.</a:t>
            </a:r>
            <a:endParaRPr lang="en-US" sz="1000" dirty="0"/>
          </a:p>
        </p:txBody>
      </p:sp>
      <p:sp>
        <p:nvSpPr>
          <p:cNvPr id="14" name="Shape 12"/>
          <p:cNvSpPr/>
          <p:nvPr/>
        </p:nvSpPr>
        <p:spPr>
          <a:xfrm>
            <a:off x="274320" y="3035808"/>
            <a:ext cx="8595360" cy="86868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15" name="Shape 13"/>
          <p:cNvSpPr/>
          <p:nvPr/>
        </p:nvSpPr>
        <p:spPr>
          <a:xfrm>
            <a:off x="274320" y="3035808"/>
            <a:ext cx="64008" cy="868680"/>
          </a:xfrm>
          <a:prstGeom prst="rect">
            <a:avLst/>
          </a:prstGeom>
          <a:solidFill>
            <a:srgbClr val="0D9488"/>
          </a:solidFill>
          <a:ln w="12700">
            <a:solidFill>
              <a:srgbClr val="0D9488"/>
            </a:solidFill>
            <a:prstDash val="solid"/>
          </a:ln>
        </p:spPr>
      </p:sp>
      <p:sp>
        <p:nvSpPr>
          <p:cNvPr id="16" name="Text 14"/>
          <p:cNvSpPr/>
          <p:nvPr/>
        </p:nvSpPr>
        <p:spPr>
          <a:xfrm>
            <a:off x="457200" y="3090672"/>
            <a:ext cx="274320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ARIMA's Usefulness</a:t>
            </a:r>
            <a:endParaRPr lang="en-US" sz="1150" dirty="0"/>
          </a:p>
        </p:txBody>
      </p:sp>
      <p:sp>
        <p:nvSpPr>
          <p:cNvPr id="17" name="Text 15"/>
          <p:cNvSpPr/>
          <p:nvPr/>
        </p:nvSpPr>
        <p:spPr>
          <a:xfrm>
            <a:off x="457200" y="3364992"/>
            <a:ext cx="827532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Despite its limitations, ARIMA provides a rigorous, statistically sound baseline for short-run forecasting. It outperforms naive methods and offers interpretable model parameters, making it valuable for systematic investment analysis.</a:t>
            </a:r>
            <a:endParaRPr lang="en-US" sz="1000" dirty="0"/>
          </a:p>
        </p:txBody>
      </p:sp>
      <p:sp>
        <p:nvSpPr>
          <p:cNvPr id="18" name="Shape 16"/>
          <p:cNvSpPr/>
          <p:nvPr/>
        </p:nvSpPr>
        <p:spPr>
          <a:xfrm>
            <a:off x="274320" y="4014216"/>
            <a:ext cx="8595360" cy="868680"/>
          </a:xfrm>
          <a:prstGeom prst="rect">
            <a:avLst/>
          </a:prstGeom>
          <a:solidFill>
            <a:srgbClr val="FFFFFF"/>
          </a:solidFill>
          <a:ln w="12700">
            <a:solidFill>
              <a:srgbClr val="E2E8F0"/>
            </a:solidFill>
            <a:prstDash val="solid"/>
          </a:ln>
          <a:effectLst>
            <a:outerShdw sx="100000" sy="100000" kx="0" ky="0" algn="bl" rotWithShape="0" blurRad="38100" dist="12700" dir="8100000">
              <a:srgbClr val="000000">
                <a:alpha val="6000"/>
              </a:srgbClr>
            </a:outerShdw>
          </a:effectLst>
        </p:spPr>
      </p:sp>
      <p:sp>
        <p:nvSpPr>
          <p:cNvPr id="19" name="Shape 17"/>
          <p:cNvSpPr/>
          <p:nvPr/>
        </p:nvSpPr>
        <p:spPr>
          <a:xfrm>
            <a:off x="274320" y="4014216"/>
            <a:ext cx="64008" cy="868680"/>
          </a:xfrm>
          <a:prstGeom prst="rect">
            <a:avLst/>
          </a:prstGeom>
          <a:solidFill>
            <a:srgbClr val="0D9488"/>
          </a:solidFill>
          <a:ln w="12700">
            <a:solidFill>
              <a:srgbClr val="0D9488"/>
            </a:solidFill>
            <a:prstDash val="solid"/>
          </a:ln>
        </p:spPr>
      </p:sp>
      <p:sp>
        <p:nvSpPr>
          <p:cNvPr id="20" name="Text 18"/>
          <p:cNvSpPr/>
          <p:nvPr/>
        </p:nvSpPr>
        <p:spPr>
          <a:xfrm>
            <a:off x="457200" y="4069080"/>
            <a:ext cx="274320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No Model Achieves Perfect Accuracy</a:t>
            </a:r>
            <a:endParaRPr lang="en-US" sz="1150" dirty="0"/>
          </a:p>
        </p:txBody>
      </p:sp>
      <p:sp>
        <p:nvSpPr>
          <p:cNvPr id="21" name="Text 19"/>
          <p:cNvSpPr/>
          <p:nvPr/>
        </p:nvSpPr>
        <p:spPr>
          <a:xfrm>
            <a:off x="457200" y="4343400"/>
            <a:ext cx="827532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Stock markets are governed by a combination of deterministic patterns and irreducible randomness. Even the most sophisticated models cannot fully account for human behaviour, geopolitical events, and information asymmetry — making 100% prediction accuracy theoretically impossible.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914400"/>
            <a:ext cx="9144000" cy="45720"/>
          </a:xfrm>
          <a:prstGeom prst="rect">
            <a:avLst/>
          </a:prstGeom>
          <a:solidFill>
            <a:srgbClr val="0D9488"/>
          </a:solidFill>
          <a:ln w="12700">
            <a:solidFill>
              <a:srgbClr val="0D9488"/>
            </a:solidFill>
            <a:prstDash val="solid"/>
          </a:ln>
        </p:spPr>
      </p:sp>
      <p:sp>
        <p:nvSpPr>
          <p:cNvPr id="4" name="Text 2"/>
          <p:cNvSpPr/>
          <p:nvPr/>
        </p:nvSpPr>
        <p:spPr>
          <a:xfrm>
            <a:off x="182880" y="91440"/>
            <a:ext cx="640080" cy="731520"/>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12</a:t>
            </a:r>
            <a:endParaRPr lang="en-US" sz="2800" dirty="0"/>
          </a:p>
        </p:txBody>
      </p:sp>
      <p:sp>
        <p:nvSpPr>
          <p:cNvPr id="5" name="Text 3"/>
          <p:cNvSpPr/>
          <p:nvPr/>
        </p:nvSpPr>
        <p:spPr>
          <a:xfrm>
            <a:off x="914400" y="1371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Future Scope</a:t>
            </a:r>
            <a:endParaRPr lang="en-US" sz="2600" dirty="0"/>
          </a:p>
        </p:txBody>
      </p:sp>
      <p:sp>
        <p:nvSpPr>
          <p:cNvPr id="6" name="Shape 4"/>
          <p:cNvSpPr/>
          <p:nvPr/>
        </p:nvSpPr>
        <p:spPr>
          <a:xfrm>
            <a:off x="182880" y="1078992"/>
            <a:ext cx="1645920" cy="3749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182880" y="1078992"/>
            <a:ext cx="1645920" cy="411480"/>
          </a:xfrm>
          <a:prstGeom prst="rect">
            <a:avLst/>
          </a:prstGeom>
          <a:solidFill>
            <a:srgbClr val="0D9488"/>
          </a:solidFill>
          <a:ln w="12700">
            <a:solidFill>
              <a:srgbClr val="0D9488"/>
            </a:solidFill>
            <a:prstDash val="solid"/>
          </a:ln>
        </p:spPr>
      </p:sp>
      <p:sp>
        <p:nvSpPr>
          <p:cNvPr id="8" name="Text 6"/>
          <p:cNvSpPr/>
          <p:nvPr/>
        </p:nvSpPr>
        <p:spPr>
          <a:xfrm>
            <a:off x="256032" y="1115568"/>
            <a:ext cx="149961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Hybrid Models</a:t>
            </a:r>
            <a:endParaRPr lang="en-US" sz="1100" dirty="0"/>
          </a:p>
        </p:txBody>
      </p:sp>
      <p:sp>
        <p:nvSpPr>
          <p:cNvPr id="9" name="Shape 7"/>
          <p:cNvSpPr/>
          <p:nvPr/>
        </p:nvSpPr>
        <p:spPr>
          <a:xfrm>
            <a:off x="182880" y="1490472"/>
            <a:ext cx="1645920" cy="292608"/>
          </a:xfrm>
          <a:prstGeom prst="rect">
            <a:avLst/>
          </a:prstGeom>
          <a:solidFill>
            <a:srgbClr val="F0F4FF"/>
          </a:solidFill>
          <a:ln w="12700">
            <a:solidFill>
              <a:srgbClr val="E2E8F0"/>
            </a:solidFill>
            <a:prstDash val="solid"/>
          </a:ln>
        </p:spPr>
      </p:sp>
      <p:sp>
        <p:nvSpPr>
          <p:cNvPr id="10" name="Text 8"/>
          <p:cNvSpPr/>
          <p:nvPr/>
        </p:nvSpPr>
        <p:spPr>
          <a:xfrm>
            <a:off x="228600" y="1508760"/>
            <a:ext cx="1554480" cy="256032"/>
          </a:xfrm>
          <a:prstGeom prst="rect">
            <a:avLst/>
          </a:prstGeom>
          <a:noFill/>
          <a:ln/>
        </p:spPr>
        <p:txBody>
          <a:bodyPr wrap="square" lIns="0" tIns="0" rIns="0" bIns="0" rtlCol="0" anchor="ctr"/>
          <a:lstStyle/>
          <a:p>
            <a:pPr algn="ctr" indent="0" marL="0">
              <a:buNone/>
            </a:pPr>
            <a:r>
              <a:rPr lang="en-US" sz="850" i="1" dirty="0">
                <a:solidFill>
                  <a:srgbClr val="0D9488"/>
                </a:solidFill>
                <a:latin typeface="Calibri" pitchFamily="34" charset="0"/>
                <a:ea typeface="Calibri" pitchFamily="34" charset="-122"/>
                <a:cs typeface="Calibri" pitchFamily="34" charset="-120"/>
              </a:rPr>
              <a:t>ARIMA-GARCH / ARIMA-ANN</a:t>
            </a:r>
            <a:endParaRPr lang="en-US" sz="850" dirty="0"/>
          </a:p>
        </p:txBody>
      </p:sp>
      <p:sp>
        <p:nvSpPr>
          <p:cNvPr id="11" name="Text 9"/>
          <p:cNvSpPr/>
          <p:nvPr/>
        </p:nvSpPr>
        <p:spPr>
          <a:xfrm>
            <a:off x="274320" y="1874520"/>
            <a:ext cx="1463040" cy="2834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Combining ARIMA with GARCH to model volatility, or with Artificial Neural Networks for non-linear pattern capture, substantially improves forecast accuracy across market regimes.</a:t>
            </a:r>
            <a:endParaRPr lang="en-US" sz="950" dirty="0"/>
          </a:p>
        </p:txBody>
      </p:sp>
      <p:sp>
        <p:nvSpPr>
          <p:cNvPr id="12" name="Shape 10"/>
          <p:cNvSpPr/>
          <p:nvPr/>
        </p:nvSpPr>
        <p:spPr>
          <a:xfrm>
            <a:off x="1956816" y="1078992"/>
            <a:ext cx="1645920" cy="3749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3" name="Shape 11"/>
          <p:cNvSpPr/>
          <p:nvPr/>
        </p:nvSpPr>
        <p:spPr>
          <a:xfrm>
            <a:off x="1956816" y="1078992"/>
            <a:ext cx="1645920" cy="411480"/>
          </a:xfrm>
          <a:prstGeom prst="rect">
            <a:avLst/>
          </a:prstGeom>
          <a:solidFill>
            <a:srgbClr val="1E2761"/>
          </a:solidFill>
          <a:ln w="12700">
            <a:solidFill>
              <a:srgbClr val="1E2761"/>
            </a:solidFill>
            <a:prstDash val="solid"/>
          </a:ln>
        </p:spPr>
      </p:sp>
      <p:sp>
        <p:nvSpPr>
          <p:cNvPr id="14" name="Text 12"/>
          <p:cNvSpPr/>
          <p:nvPr/>
        </p:nvSpPr>
        <p:spPr>
          <a:xfrm>
            <a:off x="2029968" y="1115568"/>
            <a:ext cx="149961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15" name="Shape 13"/>
          <p:cNvSpPr/>
          <p:nvPr/>
        </p:nvSpPr>
        <p:spPr>
          <a:xfrm>
            <a:off x="1956816" y="1490472"/>
            <a:ext cx="1645920" cy="292608"/>
          </a:xfrm>
          <a:prstGeom prst="rect">
            <a:avLst/>
          </a:prstGeom>
          <a:solidFill>
            <a:srgbClr val="F0F4FF"/>
          </a:solidFill>
          <a:ln w="12700">
            <a:solidFill>
              <a:srgbClr val="E2E8F0"/>
            </a:solidFill>
            <a:prstDash val="solid"/>
          </a:ln>
        </p:spPr>
      </p:sp>
      <p:sp>
        <p:nvSpPr>
          <p:cNvPr id="16" name="Text 14"/>
          <p:cNvSpPr/>
          <p:nvPr/>
        </p:nvSpPr>
        <p:spPr>
          <a:xfrm>
            <a:off x="2002536" y="1508760"/>
            <a:ext cx="1554480" cy="256032"/>
          </a:xfrm>
          <a:prstGeom prst="rect">
            <a:avLst/>
          </a:prstGeom>
          <a:noFill/>
          <a:ln/>
        </p:spPr>
        <p:txBody>
          <a:bodyPr wrap="square" lIns="0" tIns="0" rIns="0" bIns="0" rtlCol="0" anchor="ctr"/>
          <a:lstStyle/>
          <a:p>
            <a:pPr algn="ctr" indent="0" marL="0">
              <a:buNone/>
            </a:pPr>
            <a:r>
              <a:rPr lang="en-US" sz="850" i="1" dirty="0">
                <a:solidFill>
                  <a:srgbClr val="1E2761"/>
                </a:solidFill>
                <a:latin typeface="Calibri" pitchFamily="34" charset="0"/>
                <a:ea typeface="Calibri" pitchFamily="34" charset="-122"/>
                <a:cs typeface="Calibri" pitchFamily="34" charset="-120"/>
              </a:rPr>
              <a:t>SVR, Random Forest, XGBoost</a:t>
            </a:r>
            <a:endParaRPr lang="en-US" sz="850" dirty="0"/>
          </a:p>
        </p:txBody>
      </p:sp>
      <p:sp>
        <p:nvSpPr>
          <p:cNvPr id="17" name="Text 15"/>
          <p:cNvSpPr/>
          <p:nvPr/>
        </p:nvSpPr>
        <p:spPr>
          <a:xfrm>
            <a:off x="2048256" y="1874520"/>
            <a:ext cx="1463040" cy="2834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Supervised learning algorithms can model complex non-linear relationships and incorporate technical indicators, volume, and sentiment features alongside price history.</a:t>
            </a:r>
            <a:endParaRPr lang="en-US" sz="950" dirty="0"/>
          </a:p>
        </p:txBody>
      </p:sp>
      <p:sp>
        <p:nvSpPr>
          <p:cNvPr id="18" name="Shape 16"/>
          <p:cNvSpPr/>
          <p:nvPr/>
        </p:nvSpPr>
        <p:spPr>
          <a:xfrm>
            <a:off x="3730752" y="1078992"/>
            <a:ext cx="1645920" cy="3749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9" name="Shape 17"/>
          <p:cNvSpPr/>
          <p:nvPr/>
        </p:nvSpPr>
        <p:spPr>
          <a:xfrm>
            <a:off x="3730752" y="1078992"/>
            <a:ext cx="1645920" cy="411480"/>
          </a:xfrm>
          <a:prstGeom prst="rect">
            <a:avLst/>
          </a:prstGeom>
          <a:solidFill>
            <a:srgbClr val="8B5CF6"/>
          </a:solidFill>
          <a:ln w="12700">
            <a:solidFill>
              <a:srgbClr val="8B5CF6"/>
            </a:solidFill>
            <a:prstDash val="solid"/>
          </a:ln>
        </p:spPr>
      </p:sp>
      <p:sp>
        <p:nvSpPr>
          <p:cNvPr id="20" name="Text 18"/>
          <p:cNvSpPr/>
          <p:nvPr/>
        </p:nvSpPr>
        <p:spPr>
          <a:xfrm>
            <a:off x="3803904" y="1115568"/>
            <a:ext cx="149961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LSTM Networks</a:t>
            </a:r>
            <a:endParaRPr lang="en-US" sz="1100" dirty="0"/>
          </a:p>
        </p:txBody>
      </p:sp>
      <p:sp>
        <p:nvSpPr>
          <p:cNvPr id="21" name="Shape 19"/>
          <p:cNvSpPr/>
          <p:nvPr/>
        </p:nvSpPr>
        <p:spPr>
          <a:xfrm>
            <a:off x="3730752" y="1490472"/>
            <a:ext cx="1645920" cy="292608"/>
          </a:xfrm>
          <a:prstGeom prst="rect">
            <a:avLst/>
          </a:prstGeom>
          <a:solidFill>
            <a:srgbClr val="F0F4FF"/>
          </a:solidFill>
          <a:ln w="12700">
            <a:solidFill>
              <a:srgbClr val="E2E8F0"/>
            </a:solidFill>
            <a:prstDash val="solid"/>
          </a:ln>
        </p:spPr>
      </p:sp>
      <p:sp>
        <p:nvSpPr>
          <p:cNvPr id="22" name="Text 20"/>
          <p:cNvSpPr/>
          <p:nvPr/>
        </p:nvSpPr>
        <p:spPr>
          <a:xfrm>
            <a:off x="3776472" y="1508760"/>
            <a:ext cx="1554480" cy="256032"/>
          </a:xfrm>
          <a:prstGeom prst="rect">
            <a:avLst/>
          </a:prstGeom>
          <a:noFill/>
          <a:ln/>
        </p:spPr>
        <p:txBody>
          <a:bodyPr wrap="square" lIns="0" tIns="0" rIns="0" bIns="0" rtlCol="0" anchor="ctr"/>
          <a:lstStyle/>
          <a:p>
            <a:pPr algn="ctr" indent="0" marL="0">
              <a:buNone/>
            </a:pPr>
            <a:r>
              <a:rPr lang="en-US" sz="850" i="1" dirty="0">
                <a:solidFill>
                  <a:srgbClr val="8B5CF6"/>
                </a:solidFill>
                <a:latin typeface="Calibri" pitchFamily="34" charset="0"/>
                <a:ea typeface="Calibri" pitchFamily="34" charset="-122"/>
                <a:cs typeface="Calibri" pitchFamily="34" charset="-120"/>
              </a:rPr>
              <a:t>Long Short-Term Memory (Deep Learning)</a:t>
            </a:r>
            <a:endParaRPr lang="en-US" sz="850" dirty="0"/>
          </a:p>
        </p:txBody>
      </p:sp>
      <p:sp>
        <p:nvSpPr>
          <p:cNvPr id="23" name="Text 21"/>
          <p:cNvSpPr/>
          <p:nvPr/>
        </p:nvSpPr>
        <p:spPr>
          <a:xfrm>
            <a:off x="3822192" y="1874520"/>
            <a:ext cx="1463040" cy="2834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LSTM excels at learning long-range temporal dependencies in sequential data. Its ability to selectively retain or forget historical information makes it ideal for volatile financial time series.</a:t>
            </a:r>
            <a:endParaRPr lang="en-US" sz="950" dirty="0"/>
          </a:p>
        </p:txBody>
      </p:sp>
      <p:sp>
        <p:nvSpPr>
          <p:cNvPr id="24" name="Shape 22"/>
          <p:cNvSpPr/>
          <p:nvPr/>
        </p:nvSpPr>
        <p:spPr>
          <a:xfrm>
            <a:off x="5504688" y="1078992"/>
            <a:ext cx="1645920" cy="3749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5" name="Shape 23"/>
          <p:cNvSpPr/>
          <p:nvPr/>
        </p:nvSpPr>
        <p:spPr>
          <a:xfrm>
            <a:off x="5504688" y="1078992"/>
            <a:ext cx="1645920" cy="411480"/>
          </a:xfrm>
          <a:prstGeom prst="rect">
            <a:avLst/>
          </a:prstGeom>
          <a:solidFill>
            <a:srgbClr val="F59E0B"/>
          </a:solidFill>
          <a:ln w="12700">
            <a:solidFill>
              <a:srgbClr val="F59E0B"/>
            </a:solidFill>
            <a:prstDash val="solid"/>
          </a:ln>
        </p:spPr>
      </p:sp>
      <p:sp>
        <p:nvSpPr>
          <p:cNvPr id="26" name="Text 24"/>
          <p:cNvSpPr/>
          <p:nvPr/>
        </p:nvSpPr>
        <p:spPr>
          <a:xfrm>
            <a:off x="5577840" y="1115568"/>
            <a:ext cx="149961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BiLSTM &amp; GRU</a:t>
            </a:r>
            <a:endParaRPr lang="en-US" sz="1100" dirty="0"/>
          </a:p>
        </p:txBody>
      </p:sp>
      <p:sp>
        <p:nvSpPr>
          <p:cNvPr id="27" name="Shape 25"/>
          <p:cNvSpPr/>
          <p:nvPr/>
        </p:nvSpPr>
        <p:spPr>
          <a:xfrm>
            <a:off x="5504688" y="1490472"/>
            <a:ext cx="1645920" cy="292608"/>
          </a:xfrm>
          <a:prstGeom prst="rect">
            <a:avLst/>
          </a:prstGeom>
          <a:solidFill>
            <a:srgbClr val="F0F4FF"/>
          </a:solidFill>
          <a:ln w="12700">
            <a:solidFill>
              <a:srgbClr val="E2E8F0"/>
            </a:solidFill>
            <a:prstDash val="solid"/>
          </a:ln>
        </p:spPr>
      </p:sp>
      <p:sp>
        <p:nvSpPr>
          <p:cNvPr id="28" name="Text 26"/>
          <p:cNvSpPr/>
          <p:nvPr/>
        </p:nvSpPr>
        <p:spPr>
          <a:xfrm>
            <a:off x="5550408" y="1508760"/>
            <a:ext cx="1554480" cy="256032"/>
          </a:xfrm>
          <a:prstGeom prst="rect">
            <a:avLst/>
          </a:prstGeom>
          <a:noFill/>
          <a:ln/>
        </p:spPr>
        <p:txBody>
          <a:bodyPr wrap="square" lIns="0" tIns="0" rIns="0" bIns="0" rtlCol="0" anchor="ctr"/>
          <a:lstStyle/>
          <a:p>
            <a:pPr algn="ctr" indent="0" marL="0">
              <a:buNone/>
            </a:pPr>
            <a:r>
              <a:rPr lang="en-US" sz="850" i="1" dirty="0">
                <a:solidFill>
                  <a:srgbClr val="F59E0B"/>
                </a:solidFill>
                <a:latin typeface="Calibri" pitchFamily="34" charset="0"/>
                <a:ea typeface="Calibri" pitchFamily="34" charset="-122"/>
                <a:cs typeface="Calibri" pitchFamily="34" charset="-120"/>
              </a:rPr>
              <a:t>Bidirectional LSTM / Gated Recurrent Unit</a:t>
            </a:r>
            <a:endParaRPr lang="en-US" sz="850" dirty="0"/>
          </a:p>
        </p:txBody>
      </p:sp>
      <p:sp>
        <p:nvSpPr>
          <p:cNvPr id="29" name="Text 27"/>
          <p:cNvSpPr/>
          <p:nvPr/>
        </p:nvSpPr>
        <p:spPr>
          <a:xfrm>
            <a:off x="5596128" y="1874520"/>
            <a:ext cx="1463040" cy="2834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BiLSTM processes sequences both forward and backward for richer context. GRU offers similar performance to LSTM with reduced computational cost, making it attractive for real-time deployment.</a:t>
            </a:r>
            <a:endParaRPr lang="en-US" sz="950" dirty="0"/>
          </a:p>
        </p:txBody>
      </p:sp>
      <p:sp>
        <p:nvSpPr>
          <p:cNvPr id="30" name="Shape 28"/>
          <p:cNvSpPr/>
          <p:nvPr/>
        </p:nvSpPr>
        <p:spPr>
          <a:xfrm>
            <a:off x="7278624" y="1078992"/>
            <a:ext cx="1645920" cy="3749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31" name="Shape 29"/>
          <p:cNvSpPr/>
          <p:nvPr/>
        </p:nvSpPr>
        <p:spPr>
          <a:xfrm>
            <a:off x="7278624" y="1078992"/>
            <a:ext cx="1645920" cy="411480"/>
          </a:xfrm>
          <a:prstGeom prst="rect">
            <a:avLst/>
          </a:prstGeom>
          <a:solidFill>
            <a:srgbClr val="0D9488"/>
          </a:solidFill>
          <a:ln w="12700">
            <a:solidFill>
              <a:srgbClr val="0D9488"/>
            </a:solidFill>
            <a:prstDash val="solid"/>
          </a:ln>
        </p:spPr>
      </p:sp>
      <p:sp>
        <p:nvSpPr>
          <p:cNvPr id="32" name="Text 30"/>
          <p:cNvSpPr/>
          <p:nvPr/>
        </p:nvSpPr>
        <p:spPr>
          <a:xfrm>
            <a:off x="7351776" y="1115568"/>
            <a:ext cx="149961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Transformer Models</a:t>
            </a:r>
            <a:endParaRPr lang="en-US" sz="1100" dirty="0"/>
          </a:p>
        </p:txBody>
      </p:sp>
      <p:sp>
        <p:nvSpPr>
          <p:cNvPr id="33" name="Shape 31"/>
          <p:cNvSpPr/>
          <p:nvPr/>
        </p:nvSpPr>
        <p:spPr>
          <a:xfrm>
            <a:off x="7278624" y="1490472"/>
            <a:ext cx="1645920" cy="292608"/>
          </a:xfrm>
          <a:prstGeom prst="rect">
            <a:avLst/>
          </a:prstGeom>
          <a:solidFill>
            <a:srgbClr val="F0F4FF"/>
          </a:solidFill>
          <a:ln w="12700">
            <a:solidFill>
              <a:srgbClr val="E2E8F0"/>
            </a:solidFill>
            <a:prstDash val="solid"/>
          </a:ln>
        </p:spPr>
      </p:sp>
      <p:sp>
        <p:nvSpPr>
          <p:cNvPr id="34" name="Text 32"/>
          <p:cNvSpPr/>
          <p:nvPr/>
        </p:nvSpPr>
        <p:spPr>
          <a:xfrm>
            <a:off x="7324344" y="1508760"/>
            <a:ext cx="1554480" cy="256032"/>
          </a:xfrm>
          <a:prstGeom prst="rect">
            <a:avLst/>
          </a:prstGeom>
          <a:noFill/>
          <a:ln/>
        </p:spPr>
        <p:txBody>
          <a:bodyPr wrap="square" lIns="0" tIns="0" rIns="0" bIns="0" rtlCol="0" anchor="ctr"/>
          <a:lstStyle/>
          <a:p>
            <a:pPr algn="ctr" indent="0" marL="0">
              <a:buNone/>
            </a:pPr>
            <a:r>
              <a:rPr lang="en-US" sz="850" i="1" dirty="0">
                <a:solidFill>
                  <a:srgbClr val="0D9488"/>
                </a:solidFill>
                <a:latin typeface="Calibri" pitchFamily="34" charset="0"/>
                <a:ea typeface="Calibri" pitchFamily="34" charset="-122"/>
                <a:cs typeface="Calibri" pitchFamily="34" charset="-120"/>
              </a:rPr>
              <a:t>Attention-Based Architectures</a:t>
            </a:r>
            <a:endParaRPr lang="en-US" sz="850" dirty="0"/>
          </a:p>
        </p:txBody>
      </p:sp>
      <p:sp>
        <p:nvSpPr>
          <p:cNvPr id="35" name="Text 33"/>
          <p:cNvSpPr/>
          <p:nvPr/>
        </p:nvSpPr>
        <p:spPr>
          <a:xfrm>
            <a:off x="7370064" y="1874520"/>
            <a:ext cx="1463040" cy="2834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Self-attention mechanisms allow transformers to capture global dependencies across the entire time series at once. Combined with positional encoding, they represent the state-of-the-art in financial forecasting.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w="12700">
            <a:solidFill>
              <a:srgbClr val="EF4444"/>
            </a:solidFill>
            <a:prstDash val="solid"/>
          </a:ln>
        </p:spPr>
      </p:sp>
      <p:sp>
        <p:nvSpPr>
          <p:cNvPr id="3" name="Text 1"/>
          <p:cNvSpPr/>
          <p:nvPr/>
        </p:nvSpPr>
        <p:spPr>
          <a:xfrm>
            <a:off x="228600" y="109728"/>
            <a:ext cx="640080" cy="548640"/>
          </a:xfrm>
          <a:prstGeom prst="rect">
            <a:avLst/>
          </a:prstGeom>
          <a:noFill/>
          <a:ln/>
        </p:spPr>
        <p:txBody>
          <a:bodyPr wrap="square" lIns="0" tIns="0" rIns="0" bIns="0" rtlCol="0" anchor="ctr"/>
          <a:lstStyle/>
          <a:p>
            <a:pPr indent="0" marL="0">
              <a:buNone/>
            </a:pPr>
            <a:r>
              <a:rPr lang="en-US" sz="2200" b="1" dirty="0">
                <a:solidFill>
                  <a:srgbClr val="EF4444"/>
                </a:solidFill>
                <a:latin typeface="Calibri" pitchFamily="34" charset="0"/>
                <a:ea typeface="Calibri" pitchFamily="34" charset="-122"/>
                <a:cs typeface="Calibri" pitchFamily="34" charset="-120"/>
              </a:rPr>
              <a:t>10</a:t>
            </a:r>
            <a:endParaRPr lang="en-US" sz="2200" dirty="0"/>
          </a:p>
        </p:txBody>
      </p:sp>
      <p:sp>
        <p:nvSpPr>
          <p:cNvPr id="4" name="Text 2"/>
          <p:cNvSpPr/>
          <p:nvPr/>
        </p:nvSpPr>
        <p:spPr>
          <a:xfrm>
            <a:off x="914400" y="109728"/>
            <a:ext cx="804672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Why Stock Price Prediction Is Never 100% Accurate</a:t>
            </a:r>
            <a:endParaRPr lang="en-US" sz="2000" dirty="0"/>
          </a:p>
        </p:txBody>
      </p:sp>
      <p:sp>
        <p:nvSpPr>
          <p:cNvPr id="5" name="Shape 3"/>
          <p:cNvSpPr/>
          <p:nvPr/>
        </p:nvSpPr>
        <p:spPr>
          <a:xfrm>
            <a:off x="0" y="749808"/>
            <a:ext cx="9144000" cy="36576"/>
          </a:xfrm>
          <a:prstGeom prst="rect">
            <a:avLst/>
          </a:prstGeom>
          <a:solidFill>
            <a:srgbClr val="EF4444">
              <a:alpha val="60000"/>
            </a:srgbClr>
          </a:solidFill>
          <a:ln w="12700">
            <a:solidFill>
              <a:srgbClr val="EF4444">
                <a:alpha val="60000"/>
              </a:srgbClr>
            </a:solidFill>
            <a:prstDash val="solid"/>
          </a:ln>
        </p:spPr>
      </p:sp>
      <p:sp>
        <p:nvSpPr>
          <p:cNvPr id="6" name="Shape 4"/>
          <p:cNvSpPr/>
          <p:nvPr/>
        </p:nvSpPr>
        <p:spPr>
          <a:xfrm>
            <a:off x="182880" y="896112"/>
            <a:ext cx="2834640" cy="1938528"/>
          </a:xfrm>
          <a:prstGeom prst="rect">
            <a:avLst/>
          </a:prstGeom>
          <a:solidFill>
            <a:srgbClr val="1E293B"/>
          </a:solidFill>
          <a:ln w="12700">
            <a:solidFill>
              <a:srgbClr val="EF4444"/>
            </a:solidFill>
            <a:prstDash val="solid"/>
          </a:ln>
          <a:effectLst>
            <a:outerShdw sx="100000" sy="100000" kx="0" ky="0" algn="bl" rotWithShape="0" blurRad="76200" dist="38100" dir="8100000">
              <a:srgbClr val="000000">
                <a:alpha val="20000"/>
              </a:srgbClr>
            </a:outerShdw>
          </a:effectLst>
        </p:spPr>
      </p:sp>
      <p:sp>
        <p:nvSpPr>
          <p:cNvPr id="7" name="Shape 5"/>
          <p:cNvSpPr/>
          <p:nvPr/>
        </p:nvSpPr>
        <p:spPr>
          <a:xfrm>
            <a:off x="182880" y="896112"/>
            <a:ext cx="2834640" cy="36576"/>
          </a:xfrm>
          <a:prstGeom prst="rect">
            <a:avLst/>
          </a:prstGeom>
          <a:solidFill>
            <a:srgbClr val="EF4444"/>
          </a:solidFill>
          <a:ln w="12700">
            <a:solidFill>
              <a:srgbClr val="EF4444"/>
            </a:solidFill>
            <a:prstDash val="solid"/>
          </a:ln>
        </p:spPr>
      </p:sp>
      <p:sp>
        <p:nvSpPr>
          <p:cNvPr id="8" name="Shape 6"/>
          <p:cNvSpPr/>
          <p:nvPr/>
        </p:nvSpPr>
        <p:spPr>
          <a:xfrm>
            <a:off x="292608" y="987552"/>
            <a:ext cx="320040" cy="320040"/>
          </a:xfrm>
          <a:prstGeom prst="ellipse">
            <a:avLst/>
          </a:prstGeom>
          <a:solidFill>
            <a:srgbClr val="EF4444"/>
          </a:solidFill>
          <a:ln w="12700">
            <a:solidFill>
              <a:srgbClr val="EF4444"/>
            </a:solidFill>
            <a:prstDash val="solid"/>
          </a:ln>
        </p:spPr>
      </p:sp>
      <p:sp>
        <p:nvSpPr>
          <p:cNvPr id="9" name="Text 7"/>
          <p:cNvSpPr/>
          <p:nvPr/>
        </p:nvSpPr>
        <p:spPr>
          <a:xfrm>
            <a:off x="292608" y="987552"/>
            <a:ext cx="3200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0" name="Text 8"/>
          <p:cNvSpPr/>
          <p:nvPr/>
        </p:nvSpPr>
        <p:spPr>
          <a:xfrm>
            <a:off x="713232" y="987552"/>
            <a:ext cx="22128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Markets Are Highly Dynamic</a:t>
            </a:r>
            <a:endParaRPr lang="en-US" sz="1050" dirty="0"/>
          </a:p>
        </p:txBody>
      </p:sp>
      <p:sp>
        <p:nvSpPr>
          <p:cNvPr id="11" name="Text 9"/>
          <p:cNvSpPr/>
          <p:nvPr/>
        </p:nvSpPr>
        <p:spPr>
          <a:xfrm>
            <a:off x="292608" y="1389888"/>
            <a:ext cx="2633472" cy="1371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Stock prices are determined by millions of simultaneous buy/sell decisions from investors worldwide, each acting on different information, beliefs, and risk tolerances. This collective behaviour is inherently too complex for any single model to fully replicate.</a:t>
            </a:r>
            <a:endParaRPr lang="en-US" sz="900" dirty="0"/>
          </a:p>
        </p:txBody>
      </p:sp>
      <p:sp>
        <p:nvSpPr>
          <p:cNvPr id="12" name="Shape 10"/>
          <p:cNvSpPr/>
          <p:nvPr/>
        </p:nvSpPr>
        <p:spPr>
          <a:xfrm>
            <a:off x="3182112" y="896112"/>
            <a:ext cx="2834640" cy="1938528"/>
          </a:xfrm>
          <a:prstGeom prst="rect">
            <a:avLst/>
          </a:prstGeom>
          <a:solidFill>
            <a:srgbClr val="1E293B"/>
          </a:solidFill>
          <a:ln w="12700">
            <a:solidFill>
              <a:srgbClr val="F97316"/>
            </a:solidFill>
            <a:prstDash val="solid"/>
          </a:ln>
          <a:effectLst>
            <a:outerShdw sx="100000" sy="100000" kx="0" ky="0" algn="bl" rotWithShape="0" blurRad="76200" dist="38100" dir="8100000">
              <a:srgbClr val="000000">
                <a:alpha val="20000"/>
              </a:srgbClr>
            </a:outerShdw>
          </a:effectLst>
        </p:spPr>
      </p:sp>
      <p:sp>
        <p:nvSpPr>
          <p:cNvPr id="13" name="Shape 11"/>
          <p:cNvSpPr/>
          <p:nvPr/>
        </p:nvSpPr>
        <p:spPr>
          <a:xfrm>
            <a:off x="3182112" y="896112"/>
            <a:ext cx="2834640" cy="36576"/>
          </a:xfrm>
          <a:prstGeom prst="rect">
            <a:avLst/>
          </a:prstGeom>
          <a:solidFill>
            <a:srgbClr val="F97316"/>
          </a:solidFill>
          <a:ln w="12700">
            <a:solidFill>
              <a:srgbClr val="F97316"/>
            </a:solidFill>
            <a:prstDash val="solid"/>
          </a:ln>
        </p:spPr>
      </p:sp>
      <p:sp>
        <p:nvSpPr>
          <p:cNvPr id="14" name="Shape 12"/>
          <p:cNvSpPr/>
          <p:nvPr/>
        </p:nvSpPr>
        <p:spPr>
          <a:xfrm>
            <a:off x="3291840" y="987552"/>
            <a:ext cx="320040" cy="320040"/>
          </a:xfrm>
          <a:prstGeom prst="ellipse">
            <a:avLst/>
          </a:prstGeom>
          <a:solidFill>
            <a:srgbClr val="F97316"/>
          </a:solidFill>
          <a:ln w="12700">
            <a:solidFill>
              <a:srgbClr val="F97316"/>
            </a:solidFill>
            <a:prstDash val="solid"/>
          </a:ln>
        </p:spPr>
      </p:sp>
      <p:sp>
        <p:nvSpPr>
          <p:cNvPr id="15" name="Text 13"/>
          <p:cNvSpPr/>
          <p:nvPr/>
        </p:nvSpPr>
        <p:spPr>
          <a:xfrm>
            <a:off x="3291840" y="987552"/>
            <a:ext cx="3200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6" name="Text 14"/>
          <p:cNvSpPr/>
          <p:nvPr/>
        </p:nvSpPr>
        <p:spPr>
          <a:xfrm>
            <a:off x="3712464" y="987552"/>
            <a:ext cx="22128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ARIMA Relies Only on Past Data</a:t>
            </a:r>
            <a:endParaRPr lang="en-US" sz="1050" dirty="0"/>
          </a:p>
        </p:txBody>
      </p:sp>
      <p:sp>
        <p:nvSpPr>
          <p:cNvPr id="17" name="Text 15"/>
          <p:cNvSpPr/>
          <p:nvPr/>
        </p:nvSpPr>
        <p:spPr>
          <a:xfrm>
            <a:off x="3291840" y="1389888"/>
            <a:ext cx="2633472" cy="1371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ARIMA uses solely the historical price sequence as its input. Any new information — a surprise earnings report, a policy change, a global crisis — that was not encoded in past prices will generate forecast errors that the model cannot anticipate.</a:t>
            </a:r>
            <a:endParaRPr lang="en-US" sz="900" dirty="0"/>
          </a:p>
        </p:txBody>
      </p:sp>
      <p:sp>
        <p:nvSpPr>
          <p:cNvPr id="18" name="Shape 16"/>
          <p:cNvSpPr/>
          <p:nvPr/>
        </p:nvSpPr>
        <p:spPr>
          <a:xfrm>
            <a:off x="6181344" y="896112"/>
            <a:ext cx="2834640" cy="1938528"/>
          </a:xfrm>
          <a:prstGeom prst="rect">
            <a:avLst/>
          </a:prstGeom>
          <a:solidFill>
            <a:srgbClr val="1E293B"/>
          </a:solidFill>
          <a:ln w="12700">
            <a:solidFill>
              <a:srgbClr val="F59E0B"/>
            </a:solidFill>
            <a:prstDash val="solid"/>
          </a:ln>
          <a:effectLst>
            <a:outerShdw sx="100000" sy="100000" kx="0" ky="0" algn="bl" rotWithShape="0" blurRad="76200" dist="38100" dir="8100000">
              <a:srgbClr val="000000">
                <a:alpha val="20000"/>
              </a:srgbClr>
            </a:outerShdw>
          </a:effectLst>
        </p:spPr>
      </p:sp>
      <p:sp>
        <p:nvSpPr>
          <p:cNvPr id="19" name="Shape 17"/>
          <p:cNvSpPr/>
          <p:nvPr/>
        </p:nvSpPr>
        <p:spPr>
          <a:xfrm>
            <a:off x="6181344" y="896112"/>
            <a:ext cx="2834640" cy="36576"/>
          </a:xfrm>
          <a:prstGeom prst="rect">
            <a:avLst/>
          </a:prstGeom>
          <a:solidFill>
            <a:srgbClr val="F59E0B"/>
          </a:solidFill>
          <a:ln w="12700">
            <a:solidFill>
              <a:srgbClr val="F59E0B"/>
            </a:solidFill>
            <a:prstDash val="solid"/>
          </a:ln>
        </p:spPr>
      </p:sp>
      <p:sp>
        <p:nvSpPr>
          <p:cNvPr id="20" name="Shape 18"/>
          <p:cNvSpPr/>
          <p:nvPr/>
        </p:nvSpPr>
        <p:spPr>
          <a:xfrm>
            <a:off x="6291072" y="987552"/>
            <a:ext cx="320040" cy="320040"/>
          </a:xfrm>
          <a:prstGeom prst="ellipse">
            <a:avLst/>
          </a:prstGeom>
          <a:solidFill>
            <a:srgbClr val="F59E0B"/>
          </a:solidFill>
          <a:ln w="12700">
            <a:solidFill>
              <a:srgbClr val="F59E0B"/>
            </a:solidFill>
            <a:prstDash val="solid"/>
          </a:ln>
        </p:spPr>
      </p:sp>
      <p:sp>
        <p:nvSpPr>
          <p:cNvPr id="21" name="Text 19"/>
          <p:cNvSpPr/>
          <p:nvPr/>
        </p:nvSpPr>
        <p:spPr>
          <a:xfrm>
            <a:off x="6291072" y="987552"/>
            <a:ext cx="3200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2" name="Text 20"/>
          <p:cNvSpPr/>
          <p:nvPr/>
        </p:nvSpPr>
        <p:spPr>
          <a:xfrm>
            <a:off x="6711696" y="987552"/>
            <a:ext cx="22128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Market Sentiment Changes Rapidly</a:t>
            </a:r>
            <a:endParaRPr lang="en-US" sz="1050" dirty="0"/>
          </a:p>
        </p:txBody>
      </p:sp>
      <p:sp>
        <p:nvSpPr>
          <p:cNvPr id="23" name="Text 21"/>
          <p:cNvSpPr/>
          <p:nvPr/>
        </p:nvSpPr>
        <p:spPr>
          <a:xfrm>
            <a:off x="6291072" y="1389888"/>
            <a:ext cx="2633472" cy="1371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Investor psychology, herd behaviour, fear, and greed create price movements that diverge dramatically from historical patterns. Sentiment-driven rallies and panic sell-offs are structurally invisible to statistical models trained on price history alone.</a:t>
            </a:r>
            <a:endParaRPr lang="en-US" sz="900" dirty="0"/>
          </a:p>
        </p:txBody>
      </p:sp>
      <p:sp>
        <p:nvSpPr>
          <p:cNvPr id="24" name="Shape 22"/>
          <p:cNvSpPr/>
          <p:nvPr/>
        </p:nvSpPr>
        <p:spPr>
          <a:xfrm>
            <a:off x="182880" y="2980944"/>
            <a:ext cx="2834640" cy="1938528"/>
          </a:xfrm>
          <a:prstGeom prst="rect">
            <a:avLst/>
          </a:prstGeom>
          <a:solidFill>
            <a:srgbClr val="1E293B"/>
          </a:solidFill>
          <a:ln w="12700">
            <a:solidFill>
              <a:srgbClr val="0D9488"/>
            </a:solidFill>
            <a:prstDash val="solid"/>
          </a:ln>
          <a:effectLst>
            <a:outerShdw sx="100000" sy="100000" kx="0" ky="0" algn="bl" rotWithShape="0" blurRad="76200" dist="38100" dir="8100000">
              <a:srgbClr val="000000">
                <a:alpha val="20000"/>
              </a:srgbClr>
            </a:outerShdw>
          </a:effectLst>
        </p:spPr>
      </p:sp>
      <p:sp>
        <p:nvSpPr>
          <p:cNvPr id="25" name="Shape 23"/>
          <p:cNvSpPr/>
          <p:nvPr/>
        </p:nvSpPr>
        <p:spPr>
          <a:xfrm>
            <a:off x="182880" y="2980944"/>
            <a:ext cx="2834640" cy="36576"/>
          </a:xfrm>
          <a:prstGeom prst="rect">
            <a:avLst/>
          </a:prstGeom>
          <a:solidFill>
            <a:srgbClr val="0D9488"/>
          </a:solidFill>
          <a:ln w="12700">
            <a:solidFill>
              <a:srgbClr val="0D9488"/>
            </a:solidFill>
            <a:prstDash val="solid"/>
          </a:ln>
        </p:spPr>
      </p:sp>
      <p:sp>
        <p:nvSpPr>
          <p:cNvPr id="26" name="Shape 24"/>
          <p:cNvSpPr/>
          <p:nvPr/>
        </p:nvSpPr>
        <p:spPr>
          <a:xfrm>
            <a:off x="292608" y="3072384"/>
            <a:ext cx="320040" cy="320040"/>
          </a:xfrm>
          <a:prstGeom prst="ellipse">
            <a:avLst/>
          </a:prstGeom>
          <a:solidFill>
            <a:srgbClr val="0D9488"/>
          </a:solidFill>
          <a:ln w="12700">
            <a:solidFill>
              <a:srgbClr val="0D9488"/>
            </a:solidFill>
            <a:prstDash val="solid"/>
          </a:ln>
        </p:spPr>
      </p:sp>
      <p:sp>
        <p:nvSpPr>
          <p:cNvPr id="27" name="Text 25"/>
          <p:cNvSpPr/>
          <p:nvPr/>
        </p:nvSpPr>
        <p:spPr>
          <a:xfrm>
            <a:off x="292608" y="3072384"/>
            <a:ext cx="3200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8" name="Text 26"/>
          <p:cNvSpPr/>
          <p:nvPr/>
        </p:nvSpPr>
        <p:spPr>
          <a:xfrm>
            <a:off x="713232" y="3072384"/>
            <a:ext cx="22128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Unpredictable External Events</a:t>
            </a:r>
            <a:endParaRPr lang="en-US" sz="1050" dirty="0"/>
          </a:p>
        </p:txBody>
      </p:sp>
      <p:sp>
        <p:nvSpPr>
          <p:cNvPr id="29" name="Text 27"/>
          <p:cNvSpPr/>
          <p:nvPr/>
        </p:nvSpPr>
        <p:spPr>
          <a:xfrm>
            <a:off x="292608" y="3474720"/>
            <a:ext cx="2633472" cy="1371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Wars, pandemics, political upheavals, central bank decisions, regulatory changes, and natural disasters cause abrupt structural breaks in price series. These black-swan events cannot be anticipated from any pattern in historical data.</a:t>
            </a:r>
            <a:endParaRPr lang="en-US" sz="900" dirty="0"/>
          </a:p>
        </p:txBody>
      </p:sp>
      <p:sp>
        <p:nvSpPr>
          <p:cNvPr id="30" name="Shape 28"/>
          <p:cNvSpPr/>
          <p:nvPr/>
        </p:nvSpPr>
        <p:spPr>
          <a:xfrm>
            <a:off x="3182112" y="2980944"/>
            <a:ext cx="2834640" cy="1938528"/>
          </a:xfrm>
          <a:prstGeom prst="rect">
            <a:avLst/>
          </a:prstGeom>
          <a:solidFill>
            <a:srgbClr val="1E293B"/>
          </a:solidFill>
          <a:ln w="12700">
            <a:solidFill>
              <a:srgbClr val="8B5CF6"/>
            </a:solidFill>
            <a:prstDash val="solid"/>
          </a:ln>
          <a:effectLst>
            <a:outerShdw sx="100000" sy="100000" kx="0" ky="0" algn="bl" rotWithShape="0" blurRad="76200" dist="38100" dir="8100000">
              <a:srgbClr val="000000">
                <a:alpha val="20000"/>
              </a:srgbClr>
            </a:outerShdw>
          </a:effectLst>
        </p:spPr>
      </p:sp>
      <p:sp>
        <p:nvSpPr>
          <p:cNvPr id="31" name="Shape 29"/>
          <p:cNvSpPr/>
          <p:nvPr/>
        </p:nvSpPr>
        <p:spPr>
          <a:xfrm>
            <a:off x="3182112" y="2980944"/>
            <a:ext cx="2834640" cy="36576"/>
          </a:xfrm>
          <a:prstGeom prst="rect">
            <a:avLst/>
          </a:prstGeom>
          <a:solidFill>
            <a:srgbClr val="8B5CF6"/>
          </a:solidFill>
          <a:ln w="12700">
            <a:solidFill>
              <a:srgbClr val="8B5CF6"/>
            </a:solidFill>
            <a:prstDash val="solid"/>
          </a:ln>
        </p:spPr>
      </p:sp>
      <p:sp>
        <p:nvSpPr>
          <p:cNvPr id="32" name="Shape 30"/>
          <p:cNvSpPr/>
          <p:nvPr/>
        </p:nvSpPr>
        <p:spPr>
          <a:xfrm>
            <a:off x="3291840" y="3072384"/>
            <a:ext cx="320040" cy="320040"/>
          </a:xfrm>
          <a:prstGeom prst="ellipse">
            <a:avLst/>
          </a:prstGeom>
          <a:solidFill>
            <a:srgbClr val="8B5CF6"/>
          </a:solidFill>
          <a:ln w="12700">
            <a:solidFill>
              <a:srgbClr val="8B5CF6"/>
            </a:solidFill>
            <a:prstDash val="solid"/>
          </a:ln>
        </p:spPr>
      </p:sp>
      <p:sp>
        <p:nvSpPr>
          <p:cNvPr id="33" name="Text 31"/>
          <p:cNvSpPr/>
          <p:nvPr/>
        </p:nvSpPr>
        <p:spPr>
          <a:xfrm>
            <a:off x="3291840" y="3072384"/>
            <a:ext cx="3200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34" name="Text 32"/>
          <p:cNvSpPr/>
          <p:nvPr/>
        </p:nvSpPr>
        <p:spPr>
          <a:xfrm>
            <a:off x="3712464" y="3072384"/>
            <a:ext cx="22128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Financial Data Is Inherently Noisy</a:t>
            </a:r>
            <a:endParaRPr lang="en-US" sz="1050" dirty="0"/>
          </a:p>
        </p:txBody>
      </p:sp>
      <p:sp>
        <p:nvSpPr>
          <p:cNvPr id="35" name="Text 33"/>
          <p:cNvSpPr/>
          <p:nvPr/>
        </p:nvSpPr>
        <p:spPr>
          <a:xfrm>
            <a:off x="3291840" y="3474720"/>
            <a:ext cx="2633472" cy="1371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 substantial proportion of short-term price variation is pure stochastic noise — random fluctuations with no predictive signal. Models that attempt to fit this noise overfit and produce unreliable out-of-sample forecasts.</a:t>
            </a:r>
            <a:endParaRPr lang="en-US" sz="900" dirty="0"/>
          </a:p>
        </p:txBody>
      </p:sp>
      <p:sp>
        <p:nvSpPr>
          <p:cNvPr id="36" name="Shape 34"/>
          <p:cNvSpPr/>
          <p:nvPr/>
        </p:nvSpPr>
        <p:spPr>
          <a:xfrm>
            <a:off x="6181344" y="2980944"/>
            <a:ext cx="2834640" cy="1938528"/>
          </a:xfrm>
          <a:prstGeom prst="rect">
            <a:avLst/>
          </a:prstGeom>
          <a:solidFill>
            <a:srgbClr val="1E293B"/>
          </a:solidFill>
          <a:ln w="12700">
            <a:solidFill>
              <a:srgbClr val="2A3580"/>
            </a:solidFill>
            <a:prstDash val="solid"/>
          </a:ln>
          <a:effectLst>
            <a:outerShdw sx="100000" sy="100000" kx="0" ky="0" algn="bl" rotWithShape="0" blurRad="76200" dist="38100" dir="8100000">
              <a:srgbClr val="000000">
                <a:alpha val="20000"/>
              </a:srgbClr>
            </a:outerShdw>
          </a:effectLst>
        </p:spPr>
      </p:sp>
      <p:sp>
        <p:nvSpPr>
          <p:cNvPr id="37" name="Shape 35"/>
          <p:cNvSpPr/>
          <p:nvPr/>
        </p:nvSpPr>
        <p:spPr>
          <a:xfrm>
            <a:off x="6181344" y="2980944"/>
            <a:ext cx="2834640" cy="36576"/>
          </a:xfrm>
          <a:prstGeom prst="rect">
            <a:avLst/>
          </a:prstGeom>
          <a:solidFill>
            <a:srgbClr val="2A3580"/>
          </a:solidFill>
          <a:ln w="12700">
            <a:solidFill>
              <a:srgbClr val="2A3580"/>
            </a:solidFill>
            <a:prstDash val="solid"/>
          </a:ln>
        </p:spPr>
      </p:sp>
      <p:sp>
        <p:nvSpPr>
          <p:cNvPr id="38" name="Shape 36"/>
          <p:cNvSpPr/>
          <p:nvPr/>
        </p:nvSpPr>
        <p:spPr>
          <a:xfrm>
            <a:off x="6291072" y="3072384"/>
            <a:ext cx="320040" cy="320040"/>
          </a:xfrm>
          <a:prstGeom prst="ellipse">
            <a:avLst/>
          </a:prstGeom>
          <a:solidFill>
            <a:srgbClr val="2A3580"/>
          </a:solidFill>
          <a:ln w="12700">
            <a:solidFill>
              <a:srgbClr val="2A3580"/>
            </a:solidFill>
            <a:prstDash val="solid"/>
          </a:ln>
        </p:spPr>
      </p:sp>
      <p:sp>
        <p:nvSpPr>
          <p:cNvPr id="39" name="Text 37"/>
          <p:cNvSpPr/>
          <p:nvPr/>
        </p:nvSpPr>
        <p:spPr>
          <a:xfrm>
            <a:off x="6291072" y="3072384"/>
            <a:ext cx="3200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40" name="Text 38"/>
          <p:cNvSpPr/>
          <p:nvPr/>
        </p:nvSpPr>
        <p:spPr>
          <a:xfrm>
            <a:off x="6711696" y="3072384"/>
            <a:ext cx="22128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Efficient Market Hypothesis (EMH)</a:t>
            </a:r>
            <a:endParaRPr lang="en-US" sz="1050" dirty="0"/>
          </a:p>
        </p:txBody>
      </p:sp>
      <p:sp>
        <p:nvSpPr>
          <p:cNvPr id="41" name="Text 39"/>
          <p:cNvSpPr/>
          <p:nvPr/>
        </p:nvSpPr>
        <p:spPr>
          <a:xfrm>
            <a:off x="6291072" y="3474720"/>
            <a:ext cx="2633472" cy="1371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EMH posits that asset prices already reflect all publicly available information. If markets are even partially efficient, tomorrow's price will differ from today's by an amount that is genuinely random — making sustained accurate prediction theoretically impossible.</a:t>
            </a:r>
            <a:endParaRPr lang="en-US" sz="900" dirty="0"/>
          </a:p>
        </p:txBody>
      </p:sp>
      <p:sp>
        <p:nvSpPr>
          <p:cNvPr id="42" name="Shape 40"/>
          <p:cNvSpPr/>
          <p:nvPr/>
        </p:nvSpPr>
        <p:spPr>
          <a:xfrm>
            <a:off x="182880" y="4791456"/>
            <a:ext cx="8778240" cy="338328"/>
          </a:xfrm>
          <a:prstGeom prst="rect">
            <a:avLst/>
          </a:prstGeom>
          <a:solidFill>
            <a:srgbClr val="1E293B"/>
          </a:solidFill>
          <a:ln w="12700">
            <a:solidFill>
              <a:srgbClr val="EF4444"/>
            </a:solidFill>
            <a:prstDash val="solid"/>
          </a:ln>
        </p:spPr>
      </p:sp>
      <p:sp>
        <p:nvSpPr>
          <p:cNvPr id="43" name="Text 41"/>
          <p:cNvSpPr/>
          <p:nvPr/>
        </p:nvSpPr>
        <p:spPr>
          <a:xfrm>
            <a:off x="274320" y="4809744"/>
            <a:ext cx="8595360" cy="292608"/>
          </a:xfrm>
          <a:prstGeom prst="rect">
            <a:avLst/>
          </a:prstGeom>
          <a:noFill/>
          <a:ln/>
        </p:spPr>
        <p:txBody>
          <a:bodyPr wrap="square" lIns="0" tIns="0" rIns="0" bIns="0" rtlCol="0" anchor="ctr"/>
          <a:lstStyle/>
          <a:p>
            <a:pPr algn="ctr" indent="0" marL="0">
              <a:buNone/>
            </a:pPr>
            <a:r>
              <a:rPr lang="en-US" sz="850" i="1" dirty="0">
                <a:solidFill>
                  <a:srgbClr val="94A3B8"/>
                </a:solidFill>
                <a:latin typeface="Calibri" pitchFamily="34" charset="0"/>
                <a:ea typeface="Calibri" pitchFamily="34" charset="-122"/>
                <a:cs typeface="Calibri" pitchFamily="34" charset="-120"/>
              </a:rPr>
              <a:t>"Stock markets are the world's largest aggregator of human expectations. No model can fully predict what millions of people will decide to do tomorrow." — Quantitative Finance Principle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Price Prediction Using ARIMA Model</dc:title>
  <dc:subject>PptxGenJS Presentation</dc:subject>
  <dc:creator>B.Sc. Data Science Case Study</dc:creator>
  <cp:lastModifiedBy>B.Sc. Data Science Case Study</cp:lastModifiedBy>
  <cp:revision>1</cp:revision>
  <dcterms:created xsi:type="dcterms:W3CDTF">2026-06-01T20:10:54Z</dcterms:created>
  <dcterms:modified xsi:type="dcterms:W3CDTF">2026-06-01T20:10:54Z</dcterms:modified>
</cp:coreProperties>
</file>